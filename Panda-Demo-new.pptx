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" y="-18288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2560320" cy="228600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931920"/>
            <a:ext cx="1828800" cy="16459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 🐼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company into a community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employee matching  ·  Real activities  ·  HR insights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employees don't know each other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feel disconnected at 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0604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since remote &amp; hybrid work became the norm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0604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$8.8T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7220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globally per year due to low engagement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have no visibility into who is at risk of leaving — until it's too late.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 matches people by what they love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52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67335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employees by shared hobbies and interests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7160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1252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Activities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67335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Soccer, yoga, cooking classes, after-work hangouts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1:1 Chat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410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with your best matches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089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9900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Coins &amp; Rewards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4107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engagement keeps people coming back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4-step employee experience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hobbies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13432" y="2432304"/>
            <a:ext cx="2011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304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754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75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Matched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your 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62272" y="2432304"/>
            <a:ext cx="2011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304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2638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63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Activities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Soccer, yoga,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dinners and more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1112" y="2432304"/>
            <a:ext cx="2011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304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1188720"/>
            <a:ext cx="17830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75220" y="13716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52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2148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Rewards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2560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Coins, badges,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 perks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 gets full visibility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10515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1856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Week (68%)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" y="3456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This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2651760"/>
            <a:ext cx="1783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2651760"/>
            <a:ext cx="64008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60320" y="34564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1005840"/>
            <a:ext cx="36576" cy="32004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70432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is engaged vs at risk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activity participation in real time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disengaged employees early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663440" y="3145536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1181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engagement reports (PDF export)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663440" y="3803904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3776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effort from HR team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activities, real connections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887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5-a-Side Soccer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Park · In 3 days · 5/10 going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1887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0698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Tennis Tournament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Park · In 5 days · 9/16 going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560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42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Morning Yoga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Rooftop · In 8 days · 4/15 going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2560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542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441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After-Work Drinks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Rooftop Bar · In 4 days · 17/30 going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39319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913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8130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Board Games Night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51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Lounge · In 11 days · 3/12 going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9472" y="39319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913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38130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Cooking Class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4251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Studio · In 14 days · 3/12 going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matching, not random pairing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37744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Employee A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· Yoga · Travel · Photography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005840"/>
            <a:ext cx="2926080" cy="2194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🐼 Panda AI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 xml:space="preserve"> 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+ shared hobbies + cross-team bonus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2377440" cy="219456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097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Employee B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Hiking · Yoga · Travel · 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88920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 match score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embeddings — understands meaning, not just keywords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companies like yours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TechCorp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058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StartupXYZ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4688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0058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EnterpriseABC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46888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95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34%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lift after 30 days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246888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395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38328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matches lead to real meetups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46888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3957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12hrs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hours saved per month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*Based on pilot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Simple, transparent pricing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employees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matching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114800"/>
            <a:ext cx="192024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5176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576072"/>
            <a:ext cx="164592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576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6517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68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/user/month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employees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reports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4297680"/>
            <a:ext cx="19202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employees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Dedicated CSM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4114800"/>
            <a:ext cx="1920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474720"/>
            <a:ext cx="1828800" cy="182880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connect your team?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free 30-day pilot — no credit card required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hello@panda.app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days, your real 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29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633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Set It 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done for you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panda.app  ·  hello@panda.app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itleBg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Employee Dashboard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Home feed — matches, activities &amp; leaderboard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Greeting"/>
          <p:cNvSpPr/>
          <p:nvPr/>
        </p:nvSpPr>
        <p:spPr>
          <a:xfrm>
            <a:off x="18288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</a:rPr>
              <a:t>Hey, Alex! 👋</a:t>
            </a:r>
            <a:endParaRPr lang="en-US" sz="1800" dirty="0"/>
          </a:p>
        </p:txBody>
      </p:sp>
      <p:sp>
        <p:nvSpPr>
          <p:cNvPr id="8" name="CoinsBg"/>
          <p:cNvSpPr/>
          <p:nvPr/>
        </p:nvSpPr>
        <p:spPr>
          <a:xfrm>
            <a:off x="182880" y="160020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9" name="CoinsText"/>
          <p:cNvSpPr/>
          <p:nvPr/>
        </p:nvSpPr>
        <p:spPr>
          <a:xfrm>
            <a:off x="228600" y="1627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</a:rPr>
              <a:t>🪙 450 coins</a:t>
            </a:r>
            <a:endParaRPr lang="en-US" sz="1000" dirty="0"/>
          </a:p>
        </p:txBody>
      </p:sp>
      <p:sp>
        <p:nvSpPr>
          <p:cNvPr id="10" name="Avatar"/>
          <p:cNvSpPr/>
          <p:nvPr/>
        </p:nvSpPr>
        <p:spPr>
          <a:xfrm>
            <a:off x="320040" y="205740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AvatarTxt"/>
          <p:cNvSpPr/>
          <p:nvPr/>
        </p:nvSpPr>
        <p:spPr>
          <a:xfrm>
            <a:off x="320040" y="20756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AJ</a:t>
            </a:r>
            <a:endParaRPr lang="en-US" sz="1200" dirty="0"/>
          </a:p>
        </p:txBody>
      </p:sp>
      <p:sp>
        <p:nvSpPr>
          <p:cNvPr id="12" name="MatchHeader"/>
          <p:cNvSpPr/>
          <p:nvPr/>
        </p:nvSpPr>
        <p:spPr>
          <a:xfrm>
            <a:off x="2834640" y="22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</a:rPr>
              <a:t>My Matches</a:t>
            </a:r>
            <a:endParaRPr lang="en-US" sz="1600" dirty="0"/>
          </a:p>
        </p:txBody>
      </p:sp>
      <p:sp>
        <p:nvSpPr>
          <p:cNvPr id="13" name="MatchSub"/>
          <p:cNvSpPr/>
          <p:nvPr/>
        </p:nvSpPr>
        <p:spPr>
          <a:xfrm>
            <a:off x="2834640" y="548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Based on shared hobbies &amp; interests</a:t>
            </a:r>
            <a:endParaRPr lang="en-US" sz="1000" dirty="0"/>
          </a:p>
        </p:txBody>
      </p:sp>
      <p:sp>
        <p:nvSpPr>
          <p:cNvPr id="14" name="Card1Bg"/>
          <p:cNvSpPr/>
          <p:nvPr/>
        </p:nvSpPr>
        <p:spPr>
          <a:xfrm>
            <a:off x="2834640" y="914400"/>
            <a:ext cx="1874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Card1Top"/>
          <p:cNvSpPr/>
          <p:nvPr/>
        </p:nvSpPr>
        <p:spPr>
          <a:xfrm>
            <a:off x="2834640" y="914400"/>
            <a:ext cx="1874519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C_Circle"/>
          <p:cNvSpPr/>
          <p:nvPr/>
        </p:nvSpPr>
        <p:spPr>
          <a:xfrm>
            <a:off x="3200400" y="105156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C_Init"/>
          <p:cNvSpPr/>
          <p:nvPr/>
        </p:nvSpPr>
        <p:spPr>
          <a:xfrm>
            <a:off x="3200400" y="1069848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SC</a:t>
            </a:r>
            <a:endParaRPr lang="en-US" sz="1100" dirty="0"/>
          </a:p>
        </p:txBody>
      </p:sp>
      <p:sp>
        <p:nvSpPr>
          <p:cNvPr id="18" name="SC_Name"/>
          <p:cNvSpPr/>
          <p:nvPr/>
        </p:nvSpPr>
        <p:spPr>
          <a:xfrm>
            <a:off x="2834640" y="1627632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Sarah Chen</a:t>
            </a:r>
            <a:endParaRPr lang="en-US" sz="1100" dirty="0"/>
          </a:p>
        </p:txBody>
      </p:sp>
      <p:sp>
        <p:nvSpPr>
          <p:cNvPr id="19" name="SC_Role"/>
          <p:cNvSpPr/>
          <p:nvPr/>
        </p:nvSpPr>
        <p:spPr>
          <a:xfrm>
            <a:off x="2834640" y="1874519"/>
            <a:ext cx="1874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Product Designer</a:t>
            </a:r>
            <a:endParaRPr lang="en-US" sz="900" dirty="0"/>
          </a:p>
        </p:txBody>
      </p:sp>
      <p:sp>
        <p:nvSpPr>
          <p:cNvPr id="20" name="SC_Score"/>
          <p:cNvSpPr/>
          <p:nvPr/>
        </p:nvSpPr>
        <p:spPr>
          <a:xfrm>
            <a:off x="3154680" y="2148840"/>
            <a:ext cx="1234440" cy="201168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SC_ScoreTxt"/>
          <p:cNvSpPr/>
          <p:nvPr/>
        </p:nvSpPr>
        <p:spPr>
          <a:xfrm>
            <a:off x="3154680" y="21579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87% match</a:t>
            </a:r>
            <a:endParaRPr lang="en-US" sz="900" dirty="0"/>
          </a:p>
        </p:txBody>
      </p:sp>
      <p:sp>
        <p:nvSpPr>
          <p:cNvPr id="22" name="Card2Bg"/>
          <p:cNvSpPr/>
          <p:nvPr/>
        </p:nvSpPr>
        <p:spPr>
          <a:xfrm>
            <a:off x="4937760" y="914400"/>
            <a:ext cx="1874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Card2Top"/>
          <p:cNvSpPr/>
          <p:nvPr/>
        </p:nvSpPr>
        <p:spPr>
          <a:xfrm>
            <a:off x="4937760" y="914400"/>
            <a:ext cx="1874519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JW_Circle"/>
          <p:cNvSpPr/>
          <p:nvPr/>
        </p:nvSpPr>
        <p:spPr>
          <a:xfrm>
            <a:off x="5303520" y="105156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JW_Init"/>
          <p:cNvSpPr/>
          <p:nvPr/>
        </p:nvSpPr>
        <p:spPr>
          <a:xfrm>
            <a:off x="5303520" y="1069848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JW</a:t>
            </a:r>
            <a:endParaRPr lang="en-US" sz="1100" dirty="0"/>
          </a:p>
        </p:txBody>
      </p:sp>
      <p:sp>
        <p:nvSpPr>
          <p:cNvPr id="26" name="JW_Name"/>
          <p:cNvSpPr/>
          <p:nvPr/>
        </p:nvSpPr>
        <p:spPr>
          <a:xfrm>
            <a:off x="4937760" y="1627632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James Wilson</a:t>
            </a:r>
            <a:endParaRPr lang="en-US" sz="1100" dirty="0"/>
          </a:p>
        </p:txBody>
      </p:sp>
      <p:sp>
        <p:nvSpPr>
          <p:cNvPr id="27" name="JW_Role"/>
          <p:cNvSpPr/>
          <p:nvPr/>
        </p:nvSpPr>
        <p:spPr>
          <a:xfrm>
            <a:off x="4937760" y="1874519"/>
            <a:ext cx="1874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Backend Engineer</a:t>
            </a:r>
            <a:endParaRPr lang="en-US" sz="900" dirty="0"/>
          </a:p>
        </p:txBody>
      </p:sp>
      <p:sp>
        <p:nvSpPr>
          <p:cNvPr id="28" name="JW_Score"/>
          <p:cNvSpPr/>
          <p:nvPr/>
        </p:nvSpPr>
        <p:spPr>
          <a:xfrm>
            <a:off x="5257800" y="2148840"/>
            <a:ext cx="1234440" cy="201168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JW_ScoreTxt"/>
          <p:cNvSpPr/>
          <p:nvPr/>
        </p:nvSpPr>
        <p:spPr>
          <a:xfrm>
            <a:off x="5257800" y="21579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74% match</a:t>
            </a:r>
            <a:endParaRPr lang="en-US" sz="900" dirty="0"/>
          </a:p>
        </p:txBody>
      </p:sp>
      <p:sp>
        <p:nvSpPr>
          <p:cNvPr id="30" name="Card3Bg"/>
          <p:cNvSpPr/>
          <p:nvPr/>
        </p:nvSpPr>
        <p:spPr>
          <a:xfrm>
            <a:off x="7040880" y="914400"/>
            <a:ext cx="187451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Card3Top"/>
          <p:cNvSpPr/>
          <p:nvPr/>
        </p:nvSpPr>
        <p:spPr>
          <a:xfrm>
            <a:off x="7040880" y="914400"/>
            <a:ext cx="1874519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MP_Circle"/>
          <p:cNvSpPr/>
          <p:nvPr/>
        </p:nvSpPr>
        <p:spPr>
          <a:xfrm>
            <a:off x="7406640" y="105156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MP_Init"/>
          <p:cNvSpPr/>
          <p:nvPr/>
        </p:nvSpPr>
        <p:spPr>
          <a:xfrm>
            <a:off x="7406640" y="1069848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MP</a:t>
            </a:r>
            <a:endParaRPr lang="en-US" sz="1100" dirty="0"/>
          </a:p>
        </p:txBody>
      </p:sp>
      <p:sp>
        <p:nvSpPr>
          <p:cNvPr id="34" name="MP_Name"/>
          <p:cNvSpPr/>
          <p:nvPr/>
        </p:nvSpPr>
        <p:spPr>
          <a:xfrm>
            <a:off x="7040880" y="1627632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Mia Patel</a:t>
            </a:r>
            <a:endParaRPr lang="en-US" sz="1100" dirty="0"/>
          </a:p>
        </p:txBody>
      </p:sp>
      <p:sp>
        <p:nvSpPr>
          <p:cNvPr id="35" name="MP_Role"/>
          <p:cNvSpPr/>
          <p:nvPr/>
        </p:nvSpPr>
        <p:spPr>
          <a:xfrm>
            <a:off x="7040880" y="1874519"/>
            <a:ext cx="1874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Marketing Lead</a:t>
            </a:r>
            <a:endParaRPr lang="en-US" sz="900" dirty="0"/>
          </a:p>
        </p:txBody>
      </p:sp>
      <p:sp>
        <p:nvSpPr>
          <p:cNvPr id="36" name="MP_Score"/>
          <p:cNvSpPr/>
          <p:nvPr/>
        </p:nvSpPr>
        <p:spPr>
          <a:xfrm>
            <a:off x="7360920" y="2148840"/>
            <a:ext cx="1234440" cy="201168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7" name="MP_ScoreTxt"/>
          <p:cNvSpPr/>
          <p:nvPr/>
        </p:nvSpPr>
        <p:spPr>
          <a:xfrm>
            <a:off x="7360920" y="21579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</a:rPr>
              <a:t>61% match</a:t>
            </a:r>
            <a:endParaRPr lang="en-US" sz="900" dirty="0"/>
          </a:p>
        </p:txBody>
      </p:sp>
      <p:sp>
        <p:nvSpPr>
          <p:cNvPr id="38" name="ActHeader"/>
          <p:cNvSpPr/>
          <p:nvPr/>
        </p:nvSpPr>
        <p:spPr>
          <a:xfrm>
            <a:off x="283464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</a:rPr>
              <a:t>Upcoming Activities</a:t>
            </a:r>
            <a:endParaRPr lang="en-US" sz="1600" dirty="0"/>
          </a:p>
        </p:txBody>
      </p:sp>
      <p:sp>
        <p:nvSpPr>
          <p:cNvPr id="39" name="ActBg1"/>
          <p:cNvSpPr/>
          <p:nvPr/>
        </p:nvSpPr>
        <p:spPr>
          <a:xfrm>
            <a:off x="2834640" y="2852928"/>
            <a:ext cx="6080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ActLine1"/>
          <p:cNvSpPr/>
          <p:nvPr/>
        </p:nvSpPr>
        <p:spPr>
          <a:xfrm>
            <a:off x="2834640" y="2852928"/>
            <a:ext cx="4572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ActIcon1"/>
          <p:cNvSpPr/>
          <p:nvPr/>
        </p:nvSpPr>
        <p:spPr>
          <a:xfrm>
            <a:off x="2926080" y="2880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🎾</a:t>
            </a:r>
            <a:endParaRPr lang="en-US" sz="1600" dirty="0"/>
          </a:p>
        </p:txBody>
      </p:sp>
      <p:sp>
        <p:nvSpPr>
          <p:cNvPr id="42" name="ActName1"/>
          <p:cNvSpPr/>
          <p:nvPr/>
        </p:nvSpPr>
        <p:spPr>
          <a:xfrm>
            <a:off x="3337560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Friday Tennis Tournament</a:t>
            </a:r>
            <a:endParaRPr lang="en-US" sz="1100" dirty="0"/>
          </a:p>
        </p:txBody>
      </p:sp>
      <p:sp>
        <p:nvSpPr>
          <p:cNvPr id="43" name="ActDate1"/>
          <p:cNvSpPr/>
          <p:nvPr/>
        </p:nvSpPr>
        <p:spPr>
          <a:xfrm>
            <a:off x="3337560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Sat Apr 11 · Central Park</a:t>
            </a:r>
            <a:endParaRPr lang="en-US" sz="900" dirty="0"/>
          </a:p>
        </p:txBody>
      </p:sp>
      <p:sp>
        <p:nvSpPr>
          <p:cNvPr id="44" name="RSVPBtn1"/>
          <p:cNvSpPr/>
          <p:nvPr/>
        </p:nvSpPr>
        <p:spPr>
          <a:xfrm>
            <a:off x="6629400" y="2926080"/>
            <a:ext cx="1188720" cy="3200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RSVPTxt1"/>
          <p:cNvSpPr/>
          <p:nvPr/>
        </p:nvSpPr>
        <p:spPr>
          <a:xfrm>
            <a:off x="6629400" y="294436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RSVP</a:t>
            </a:r>
            <a:endParaRPr lang="en-US" sz="1000" dirty="0"/>
          </a:p>
        </p:txBody>
      </p:sp>
      <p:sp>
        <p:nvSpPr>
          <p:cNvPr id="46" name="ActBg2"/>
          <p:cNvSpPr/>
          <p:nvPr/>
        </p:nvSpPr>
        <p:spPr>
          <a:xfrm>
            <a:off x="2834640" y="3401568"/>
            <a:ext cx="6080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ActLine2"/>
          <p:cNvSpPr/>
          <p:nvPr/>
        </p:nvSpPr>
        <p:spPr>
          <a:xfrm>
            <a:off x="2834640" y="3401568"/>
            <a:ext cx="457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ActIcon2"/>
          <p:cNvSpPr/>
          <p:nvPr/>
        </p:nvSpPr>
        <p:spPr>
          <a:xfrm>
            <a:off x="2926080" y="3429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🍳</a:t>
            </a:r>
            <a:endParaRPr lang="en-US" sz="1600" dirty="0"/>
          </a:p>
        </p:txBody>
      </p:sp>
      <p:sp>
        <p:nvSpPr>
          <p:cNvPr id="49" name="ActName2"/>
          <p:cNvSpPr/>
          <p:nvPr/>
        </p:nvSpPr>
        <p:spPr>
          <a:xfrm>
            <a:off x="333756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Team Cooking Class</a:t>
            </a:r>
            <a:endParaRPr lang="en-US" sz="1100" dirty="0"/>
          </a:p>
        </p:txBody>
      </p:sp>
      <p:sp>
        <p:nvSpPr>
          <p:cNvPr id="50" name="ActDate2"/>
          <p:cNvSpPr/>
          <p:nvPr/>
        </p:nvSpPr>
        <p:spPr>
          <a:xfrm>
            <a:off x="3337560" y="3675887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Tue Apr 14 · Williams Kitchen Studio</a:t>
            </a:r>
            <a:endParaRPr lang="en-US" sz="900" dirty="0"/>
          </a:p>
        </p:txBody>
      </p:sp>
      <p:sp>
        <p:nvSpPr>
          <p:cNvPr id="51" name="GoingBtn"/>
          <p:cNvSpPr/>
          <p:nvPr/>
        </p:nvSpPr>
        <p:spPr>
          <a:xfrm>
            <a:off x="6629400" y="3474720"/>
            <a:ext cx="1188720" cy="32004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GoingTxt"/>
          <p:cNvSpPr/>
          <p:nvPr/>
        </p:nvSpPr>
        <p:spPr>
          <a:xfrm>
            <a:off x="6629400" y="349300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</a:rPr>
              <a:t>Going ✓</a:t>
            </a:r>
            <a:endParaRPr lang="en-US" sz="1000" dirty="0"/>
          </a:p>
        </p:txBody>
      </p:sp>
      <p:sp>
        <p:nvSpPr>
          <p:cNvPr id="53" name="Footer"/>
          <p:cNvSpPr/>
          <p:nvPr/>
        </p:nvSpPr>
        <p:spPr>
          <a:xfrm>
            <a:off x="2834640" y="4114800"/>
            <a:ext cx="608076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FooterTxt"/>
          <p:cNvSpPr/>
          <p:nvPr/>
        </p:nvSpPr>
        <p:spPr>
          <a:xfrm>
            <a:off x="2834640" y="416052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87 colleagues matched across TechCorp this week  ·  Join the community!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LeftPanel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Smart Matching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AI-powered colleague matching by shared hobbies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tat1Bg"/>
          <p:cNvSpPr/>
          <p:nvPr/>
        </p:nvSpPr>
        <p:spPr>
          <a:xfrm>
            <a:off x="182880" y="1143000"/>
            <a:ext cx="1005840" cy="59436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8" name="Stat1Num"/>
          <p:cNvSpPr/>
          <p:nvPr/>
        </p:nvSpPr>
        <p:spPr>
          <a:xfrm>
            <a:off x="18288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</a:rPr>
              <a:t>2</a:t>
            </a:r>
            <a:endParaRPr lang="en-US" sz="2200" dirty="0"/>
          </a:p>
        </p:txBody>
      </p:sp>
      <p:sp>
        <p:nvSpPr>
          <p:cNvPr id="9" name="Stat1Lbl"/>
          <p:cNvSpPr/>
          <p:nvPr/>
        </p:nvSpPr>
        <p:spPr>
          <a:xfrm>
            <a:off x="182880" y="1444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Connected</a:t>
            </a:r>
            <a:endParaRPr lang="en-US" sz="850" dirty="0"/>
          </a:p>
        </p:txBody>
      </p:sp>
      <p:sp>
        <p:nvSpPr>
          <p:cNvPr id="10" name="Stat2Bg"/>
          <p:cNvSpPr/>
          <p:nvPr/>
        </p:nvSpPr>
        <p:spPr>
          <a:xfrm>
            <a:off x="1371600" y="1143000"/>
            <a:ext cx="1005840" cy="59436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1" name="Stat2Num"/>
          <p:cNvSpPr/>
          <p:nvPr/>
        </p:nvSpPr>
        <p:spPr>
          <a:xfrm>
            <a:off x="137160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</a:rPr>
              <a:t>5</a:t>
            </a:r>
            <a:endParaRPr lang="en-US" sz="2200" dirty="0"/>
          </a:p>
        </p:txBody>
      </p:sp>
      <p:sp>
        <p:nvSpPr>
          <p:cNvPr id="12" name="Stat2Lbl"/>
          <p:cNvSpPr/>
          <p:nvPr/>
        </p:nvSpPr>
        <p:spPr>
          <a:xfrm>
            <a:off x="1371600" y="1444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New Matches</a:t>
            </a:r>
            <a:endParaRPr lang="en-US" sz="850" dirty="0"/>
          </a:p>
        </p:txBody>
      </p:sp>
      <p:sp>
        <p:nvSpPr>
          <p:cNvPr id="13" name="FilterAll"/>
          <p:cNvSpPr/>
          <p:nvPr/>
        </p:nvSpPr>
        <p:spPr>
          <a:xfrm>
            <a:off x="182880" y="1920240"/>
            <a:ext cx="594360" cy="256032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FilterAllTxt"/>
          <p:cNvSpPr/>
          <p:nvPr/>
        </p:nvSpPr>
        <p:spPr>
          <a:xfrm>
            <a:off x="182880" y="19385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All</a:t>
            </a:r>
            <a:endParaRPr lang="en-US" sz="900" dirty="0"/>
          </a:p>
        </p:txBody>
      </p:sp>
      <p:sp>
        <p:nvSpPr>
          <p:cNvPr id="15" name="FilterConn"/>
          <p:cNvSpPr/>
          <p:nvPr/>
        </p:nvSpPr>
        <p:spPr>
          <a:xfrm>
            <a:off x="841248" y="1920240"/>
            <a:ext cx="914400" cy="256032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FilterConnTxt"/>
          <p:cNvSpPr/>
          <p:nvPr/>
        </p:nvSpPr>
        <p:spPr>
          <a:xfrm>
            <a:off x="841248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Connected</a:t>
            </a:r>
            <a:endParaRPr lang="en-US" sz="900" dirty="0"/>
          </a:p>
        </p:txBody>
      </p:sp>
      <p:sp>
        <p:nvSpPr>
          <p:cNvPr id="17" name="FilterNew"/>
          <p:cNvSpPr/>
          <p:nvPr/>
        </p:nvSpPr>
        <p:spPr>
          <a:xfrm>
            <a:off x="1828800" y="1920240"/>
            <a:ext cx="594360" cy="256032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FilterNewTxt"/>
          <p:cNvSpPr/>
          <p:nvPr/>
        </p:nvSpPr>
        <p:spPr>
          <a:xfrm>
            <a:off x="1828800" y="19385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New</a:t>
            </a:r>
            <a:endParaRPr lang="en-US" sz="900" dirty="0"/>
          </a:p>
        </p:txBody>
      </p:sp>
      <p:sp>
        <p:nvSpPr>
          <p:cNvPr id="19" name="MatchNote"/>
          <p:cNvSpPr/>
          <p:nvPr/>
        </p:nvSpPr>
        <p:spPr>
          <a:xfrm>
            <a:off x="1828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Showing 3 of 7 matches</a:t>
            </a:r>
            <a:endParaRPr lang="en-US" sz="950" dirty="0"/>
          </a:p>
        </p:txBody>
      </p:sp>
      <p:sp>
        <p:nvSpPr>
          <p:cNvPr id="20" name="MatchEmoji"/>
          <p:cNvSpPr/>
          <p:nvPr/>
        </p:nvSpPr>
        <p:spPr>
          <a:xfrm>
            <a:off x="822960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F97316"/>
                </a:solidFill>
                <a:latin typeface="Calibri" pitchFamily="34" charset="0"/>
              </a:rPr>
              <a:t>🤝</a:t>
            </a:r>
            <a:endParaRPr lang="en-US" sz="5000" dirty="0"/>
          </a:p>
        </p:txBody>
      </p:sp>
      <p:sp>
        <p:nvSpPr>
          <p:cNvPr id="21" name="MC1Bg"/>
          <p:cNvSpPr/>
          <p:nvPr/>
        </p:nvSpPr>
        <p:spPr>
          <a:xfrm>
            <a:off x="2834640" y="137160"/>
            <a:ext cx="6080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MC1Av"/>
          <p:cNvSpPr/>
          <p:nvPr/>
        </p:nvSpPr>
        <p:spPr>
          <a:xfrm>
            <a:off x="2971800" y="320040"/>
            <a:ext cx="594360" cy="5943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MC1AvTxt"/>
          <p:cNvSpPr/>
          <p:nvPr/>
        </p:nvSpPr>
        <p:spPr>
          <a:xfrm>
            <a:off x="2971800" y="33832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SC</a:t>
            </a:r>
            <a:endParaRPr lang="en-US" sz="1200" dirty="0"/>
          </a:p>
        </p:txBody>
      </p:sp>
      <p:sp>
        <p:nvSpPr>
          <p:cNvPr id="24" name="MC1Score"/>
          <p:cNvSpPr/>
          <p:nvPr/>
        </p:nvSpPr>
        <p:spPr>
          <a:xfrm>
            <a:off x="3703320" y="347472"/>
            <a:ext cx="1097280" cy="219456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MC1ScoreTxt"/>
          <p:cNvSpPr/>
          <p:nvPr/>
        </p:nvSpPr>
        <p:spPr>
          <a:xfrm>
            <a:off x="3703320" y="356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87% match</a:t>
            </a:r>
            <a:endParaRPr lang="en-US" sz="900" dirty="0"/>
          </a:p>
        </p:txBody>
      </p:sp>
      <p:sp>
        <p:nvSpPr>
          <p:cNvPr id="26" name="MC1Conn"/>
          <p:cNvSpPr/>
          <p:nvPr/>
        </p:nvSpPr>
        <p:spPr>
          <a:xfrm>
            <a:off x="4892040" y="347472"/>
            <a:ext cx="914400" cy="219456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MC1ConnTxt"/>
          <p:cNvSpPr/>
          <p:nvPr/>
        </p:nvSpPr>
        <p:spPr>
          <a:xfrm>
            <a:off x="4892040" y="356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</a:rPr>
              <a:t>Connected</a:t>
            </a:r>
            <a:endParaRPr lang="en-US" sz="900" dirty="0"/>
          </a:p>
        </p:txBody>
      </p:sp>
      <p:sp>
        <p:nvSpPr>
          <p:cNvPr id="28" name="MC1Name"/>
          <p:cNvSpPr/>
          <p:nvPr/>
        </p:nvSpPr>
        <p:spPr>
          <a:xfrm>
            <a:off x="3703320" y="594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Sarah Chen</a:t>
            </a:r>
            <a:endParaRPr lang="en-US" sz="1400" dirty="0"/>
          </a:p>
        </p:txBody>
      </p:sp>
      <p:sp>
        <p:nvSpPr>
          <p:cNvPr id="29" name="MC1Job"/>
          <p:cNvSpPr/>
          <p:nvPr/>
        </p:nvSpPr>
        <p:spPr>
          <a:xfrm>
            <a:off x="3703320" y="850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Senior Product Designer · Design · New York</a:t>
            </a:r>
            <a:endParaRPr lang="en-US" sz="900" dirty="0"/>
          </a:p>
        </p:txBody>
      </p:sp>
      <p:sp>
        <p:nvSpPr>
          <p:cNvPr id="30" name="MC1Hobbies"/>
          <p:cNvSpPr/>
          <p:nvPr/>
        </p:nvSpPr>
        <p:spPr>
          <a:xfrm>
            <a:off x="3703320" y="1069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</a:rPr>
              <a:t>In common: Yoga  Travel  Photography</a:t>
            </a:r>
            <a:endParaRPr lang="en-US" sz="900" dirty="0"/>
          </a:p>
        </p:txBody>
      </p:sp>
      <p:sp>
        <p:nvSpPr>
          <p:cNvPr id="31" name="MC1Btn"/>
          <p:cNvSpPr/>
          <p:nvPr/>
        </p:nvSpPr>
        <p:spPr>
          <a:xfrm>
            <a:off x="7589520" y="50292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MC1BtnTxt"/>
          <p:cNvSpPr/>
          <p:nvPr/>
        </p:nvSpPr>
        <p:spPr>
          <a:xfrm>
            <a:off x="7589520" y="521207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Message</a:t>
            </a:r>
            <a:endParaRPr lang="en-US" sz="1000" dirty="0"/>
          </a:p>
        </p:txBody>
      </p:sp>
      <p:sp>
        <p:nvSpPr>
          <p:cNvPr id="33" name="MC2Bg"/>
          <p:cNvSpPr/>
          <p:nvPr/>
        </p:nvSpPr>
        <p:spPr>
          <a:xfrm>
            <a:off x="2834640" y="1664208"/>
            <a:ext cx="6080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MC2Av"/>
          <p:cNvSpPr/>
          <p:nvPr/>
        </p:nvSpPr>
        <p:spPr>
          <a:xfrm>
            <a:off x="2971800" y="1847088"/>
            <a:ext cx="594360" cy="5943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MC2AvTxt"/>
          <p:cNvSpPr/>
          <p:nvPr/>
        </p:nvSpPr>
        <p:spPr>
          <a:xfrm>
            <a:off x="2971800" y="1865376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YC</a:t>
            </a:r>
            <a:endParaRPr lang="en-US" sz="1200" dirty="0"/>
          </a:p>
        </p:txBody>
      </p:sp>
      <p:sp>
        <p:nvSpPr>
          <p:cNvPr id="36" name="MC2Score"/>
          <p:cNvSpPr/>
          <p:nvPr/>
        </p:nvSpPr>
        <p:spPr>
          <a:xfrm>
            <a:off x="3703320" y="1874519"/>
            <a:ext cx="1097280" cy="219456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MC2ScoreTxt"/>
          <p:cNvSpPr/>
          <p:nvPr/>
        </p:nvSpPr>
        <p:spPr>
          <a:xfrm>
            <a:off x="3703320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81% match</a:t>
            </a:r>
            <a:endParaRPr lang="en-US" sz="900" dirty="0"/>
          </a:p>
        </p:txBody>
      </p:sp>
      <p:sp>
        <p:nvSpPr>
          <p:cNvPr id="38" name="MC2Conn"/>
          <p:cNvSpPr/>
          <p:nvPr/>
        </p:nvSpPr>
        <p:spPr>
          <a:xfrm>
            <a:off x="4892040" y="1874519"/>
            <a:ext cx="914400" cy="219456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MC2ConnTxt"/>
          <p:cNvSpPr/>
          <p:nvPr/>
        </p:nvSpPr>
        <p:spPr>
          <a:xfrm>
            <a:off x="4892040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</a:rPr>
              <a:t>Connected</a:t>
            </a:r>
            <a:endParaRPr lang="en-US" sz="900" dirty="0"/>
          </a:p>
        </p:txBody>
      </p:sp>
      <p:sp>
        <p:nvSpPr>
          <p:cNvPr id="40" name="MC2Name"/>
          <p:cNvSpPr/>
          <p:nvPr/>
        </p:nvSpPr>
        <p:spPr>
          <a:xfrm>
            <a:off x="370332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Yael Cohen</a:t>
            </a:r>
            <a:endParaRPr lang="en-US" sz="1400" dirty="0"/>
          </a:p>
        </p:txBody>
      </p:sp>
      <p:sp>
        <p:nvSpPr>
          <p:cNvPr id="41" name="MC2Job"/>
          <p:cNvSpPr/>
          <p:nvPr/>
        </p:nvSpPr>
        <p:spPr>
          <a:xfrm>
            <a:off x="3703320" y="2377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UX Researcher · Product · Tel Aviv</a:t>
            </a:r>
            <a:endParaRPr lang="en-US" sz="900" dirty="0"/>
          </a:p>
        </p:txBody>
      </p:sp>
      <p:sp>
        <p:nvSpPr>
          <p:cNvPr id="42" name="MC2Hobbies"/>
          <p:cNvSpPr/>
          <p:nvPr/>
        </p:nvSpPr>
        <p:spPr>
          <a:xfrm>
            <a:off x="3703320" y="2596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</a:rPr>
              <a:t>In common: Yoga  Photography</a:t>
            </a:r>
            <a:endParaRPr lang="en-US" sz="900" dirty="0"/>
          </a:p>
        </p:txBody>
      </p:sp>
      <p:sp>
        <p:nvSpPr>
          <p:cNvPr id="43" name="MC2Btn"/>
          <p:cNvSpPr/>
          <p:nvPr/>
        </p:nvSpPr>
        <p:spPr>
          <a:xfrm>
            <a:off x="7589520" y="2029968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MC2BtnTxt"/>
          <p:cNvSpPr/>
          <p:nvPr/>
        </p:nvSpPr>
        <p:spPr>
          <a:xfrm>
            <a:off x="7589520" y="204825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Message</a:t>
            </a:r>
            <a:endParaRPr lang="en-US" sz="1000" dirty="0"/>
          </a:p>
        </p:txBody>
      </p:sp>
      <p:sp>
        <p:nvSpPr>
          <p:cNvPr id="45" name="MC3Bg"/>
          <p:cNvSpPr/>
          <p:nvPr/>
        </p:nvSpPr>
        <p:spPr>
          <a:xfrm>
            <a:off x="2834640" y="3191256"/>
            <a:ext cx="6080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MC3Av"/>
          <p:cNvSpPr/>
          <p:nvPr/>
        </p:nvSpPr>
        <p:spPr>
          <a:xfrm>
            <a:off x="2971800" y="3374136"/>
            <a:ext cx="594360" cy="5943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MC3AvTxt"/>
          <p:cNvSpPr/>
          <p:nvPr/>
        </p:nvSpPr>
        <p:spPr>
          <a:xfrm>
            <a:off x="2971800" y="3392424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JW</a:t>
            </a:r>
            <a:endParaRPr lang="en-US" sz="1200" dirty="0"/>
          </a:p>
        </p:txBody>
      </p:sp>
      <p:sp>
        <p:nvSpPr>
          <p:cNvPr id="48" name="MC3Score"/>
          <p:cNvSpPr/>
          <p:nvPr/>
        </p:nvSpPr>
        <p:spPr>
          <a:xfrm>
            <a:off x="3703320" y="3401568"/>
            <a:ext cx="1097280" cy="219456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9" name="MC3ScoreTxt"/>
          <p:cNvSpPr/>
          <p:nvPr/>
        </p:nvSpPr>
        <p:spPr>
          <a:xfrm>
            <a:off x="3703320" y="3410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78% match</a:t>
            </a:r>
            <a:endParaRPr lang="en-US" sz="900" dirty="0"/>
          </a:p>
        </p:txBody>
      </p:sp>
      <p:sp>
        <p:nvSpPr>
          <p:cNvPr id="50" name="MC3Name"/>
          <p:cNvSpPr/>
          <p:nvPr/>
        </p:nvSpPr>
        <p:spPr>
          <a:xfrm>
            <a:off x="3703320" y="3648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James Wilson</a:t>
            </a:r>
            <a:endParaRPr lang="en-US" sz="1400" dirty="0"/>
          </a:p>
        </p:txBody>
      </p:sp>
      <p:sp>
        <p:nvSpPr>
          <p:cNvPr id="51" name="MC3Job"/>
          <p:cNvSpPr/>
          <p:nvPr/>
        </p:nvSpPr>
        <p:spPr>
          <a:xfrm>
            <a:off x="3703320" y="3904487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Backend Engineer · Engineering · San Francisco</a:t>
            </a:r>
            <a:endParaRPr lang="en-US" sz="900" dirty="0"/>
          </a:p>
        </p:txBody>
      </p:sp>
      <p:sp>
        <p:nvSpPr>
          <p:cNvPr id="52" name="MC3ConnBtn"/>
          <p:cNvSpPr/>
          <p:nvPr/>
        </p:nvSpPr>
        <p:spPr>
          <a:xfrm>
            <a:off x="7406640" y="342900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MC3ConnTxt"/>
          <p:cNvSpPr/>
          <p:nvPr/>
        </p:nvSpPr>
        <p:spPr>
          <a:xfrm>
            <a:off x="7406640" y="3447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Connect</a:t>
            </a:r>
            <a:endParaRPr lang="en-US" sz="1000" dirty="0"/>
          </a:p>
        </p:txBody>
      </p:sp>
      <p:sp>
        <p:nvSpPr>
          <p:cNvPr id="54" name="MC3SkipBtn"/>
          <p:cNvSpPr/>
          <p:nvPr/>
        </p:nvSpPr>
        <p:spPr>
          <a:xfrm>
            <a:off x="7406640" y="37947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MC3SkipTxt"/>
          <p:cNvSpPr/>
          <p:nvPr/>
        </p:nvSpPr>
        <p:spPr>
          <a:xfrm>
            <a:off x="7406640" y="3813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Skip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LeftPanel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Activity Feed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Join activities, earn coins, build real connections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Count"/>
          <p:cNvSpPr/>
          <p:nvPr/>
        </p:nvSpPr>
        <p:spPr>
          <a:xfrm>
            <a:off x="1828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8 activities upcoming</a:t>
            </a:r>
            <a:endParaRPr lang="en-US" sz="1000" dirty="0"/>
          </a:p>
        </p:txBody>
      </p:sp>
      <p:sp>
        <p:nvSpPr>
          <p:cNvPr id="8" name="FA"/>
          <p:cNvSpPr/>
          <p:nvPr/>
        </p:nvSpPr>
        <p:spPr>
          <a:xfrm>
            <a:off x="182880" y="1508760"/>
            <a:ext cx="502920" cy="24688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FATxt"/>
          <p:cNvSpPr/>
          <p:nvPr/>
        </p:nvSpPr>
        <p:spPr>
          <a:xfrm>
            <a:off x="182880" y="152704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Calibri" pitchFamily="34" charset="0"/>
              </a:rPr>
              <a:t>All</a:t>
            </a:r>
            <a:endParaRPr lang="en-US" sz="875" dirty="0"/>
          </a:p>
        </p:txBody>
      </p:sp>
      <p:sp>
        <p:nvSpPr>
          <p:cNvPr id="10" name="FS"/>
          <p:cNvSpPr/>
          <p:nvPr/>
        </p:nvSpPr>
        <p:spPr>
          <a:xfrm>
            <a:off x="749808" y="1508760"/>
            <a:ext cx="64008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FSTxt"/>
          <p:cNvSpPr/>
          <p:nvPr/>
        </p:nvSpPr>
        <p:spPr>
          <a:xfrm>
            <a:off x="749808" y="1527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Sport</a:t>
            </a:r>
            <a:endParaRPr lang="en-US" sz="875" dirty="0"/>
          </a:p>
        </p:txBody>
      </p:sp>
      <p:sp>
        <p:nvSpPr>
          <p:cNvPr id="12" name="FSo"/>
          <p:cNvSpPr/>
          <p:nvPr/>
        </p:nvSpPr>
        <p:spPr>
          <a:xfrm>
            <a:off x="1453896" y="1508760"/>
            <a:ext cx="64008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FSoTxt"/>
          <p:cNvSpPr/>
          <p:nvPr/>
        </p:nvSpPr>
        <p:spPr>
          <a:xfrm>
            <a:off x="1453896" y="15270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Social</a:t>
            </a:r>
            <a:endParaRPr lang="en-US" sz="875" dirty="0"/>
          </a:p>
        </p:txBody>
      </p:sp>
      <p:sp>
        <p:nvSpPr>
          <p:cNvPr id="14" name="FW"/>
          <p:cNvSpPr/>
          <p:nvPr/>
        </p:nvSpPr>
        <p:spPr>
          <a:xfrm>
            <a:off x="182880" y="1828800"/>
            <a:ext cx="77724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FWTxt"/>
          <p:cNvSpPr/>
          <p:nvPr/>
        </p:nvSpPr>
        <p:spPr>
          <a:xfrm>
            <a:off x="182880" y="184708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Workshop</a:t>
            </a:r>
            <a:endParaRPr lang="en-US" sz="875" dirty="0"/>
          </a:p>
        </p:txBody>
      </p:sp>
      <p:sp>
        <p:nvSpPr>
          <p:cNvPr id="16" name="FT"/>
          <p:cNvSpPr/>
          <p:nvPr/>
        </p:nvSpPr>
        <p:spPr>
          <a:xfrm>
            <a:off x="1024128" y="1828800"/>
            <a:ext cx="91440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FTTxt"/>
          <p:cNvSpPr/>
          <p:nvPr/>
        </p:nvSpPr>
        <p:spPr>
          <a:xfrm>
            <a:off x="1024128" y="184708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Tournament</a:t>
            </a:r>
            <a:endParaRPr lang="en-US" sz="875" dirty="0"/>
          </a:p>
        </p:txBody>
      </p:sp>
      <p:sp>
        <p:nvSpPr>
          <p:cNvPr id="18" name="LeftNote"/>
          <p:cNvSpPr/>
          <p:nvPr/>
        </p:nvSpPr>
        <p:spPr>
          <a:xfrm>
            <a:off x="18288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</a:rPr>
              <a:t>🏆 12 coins earned this week</a:t>
            </a:r>
            <a:endParaRPr lang="en-US" sz="950" dirty="0"/>
          </a:p>
        </p:txBody>
      </p:sp>
      <p:sp>
        <p:nvSpPr>
          <p:cNvPr id="19" name="LeftNote2"/>
          <p:cNvSpPr/>
          <p:nvPr/>
        </p:nvSpPr>
        <p:spPr>
          <a:xfrm>
            <a:off x="18288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You have 3 upcoming RSVPs</a:t>
            </a:r>
            <a:endParaRPr lang="en-US" sz="950" dirty="0"/>
          </a:p>
        </p:txBody>
      </p:sp>
      <p:sp>
        <p:nvSpPr>
          <p:cNvPr id="20" name="LeftEmoji"/>
          <p:cNvSpPr/>
          <p:nvPr/>
        </p:nvSpPr>
        <p:spPr>
          <a:xfrm>
            <a:off x="822960" y="31089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11827"/>
                </a:solidFill>
                <a:latin typeface="Calibri" pitchFamily="34" charset="0"/>
              </a:rPr>
              <a:t>⚽</a:t>
            </a:r>
            <a:endParaRPr lang="en-US" sz="4200" dirty="0"/>
          </a:p>
        </p:txBody>
      </p:sp>
      <p:sp>
        <p:nvSpPr>
          <p:cNvPr id="21" name="AC1Bg"/>
          <p:cNvSpPr/>
          <p:nvPr/>
        </p:nvSpPr>
        <p:spPr>
          <a:xfrm>
            <a:off x="2834640" y="137160"/>
            <a:ext cx="6080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AC1Top"/>
          <p:cNvSpPr/>
          <p:nvPr/>
        </p:nvSpPr>
        <p:spPr>
          <a:xfrm>
            <a:off x="2834640" y="137160"/>
            <a:ext cx="6080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AC1Icon"/>
          <p:cNvSpPr/>
          <p:nvPr/>
        </p:nvSpPr>
        <p:spPr>
          <a:xfrm>
            <a:off x="292608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⚽</a:t>
            </a:r>
            <a:endParaRPr lang="en-US" sz="1600" dirty="0"/>
          </a:p>
        </p:txBody>
      </p:sp>
      <p:sp>
        <p:nvSpPr>
          <p:cNvPr id="24" name="AC1Title"/>
          <p:cNvSpPr/>
          <p:nvPr/>
        </p:nvSpPr>
        <p:spPr>
          <a:xfrm>
            <a:off x="3429000" y="274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5-a-Side Soccer Match</a:t>
            </a:r>
            <a:endParaRPr lang="en-US" sz="1400" dirty="0"/>
          </a:p>
        </p:txBody>
      </p:sp>
      <p:sp>
        <p:nvSpPr>
          <p:cNvPr id="25" name="AC1SportTag"/>
          <p:cNvSpPr/>
          <p:nvPr/>
        </p:nvSpPr>
        <p:spPr>
          <a:xfrm>
            <a:off x="6766560" y="292608"/>
            <a:ext cx="594360" cy="219456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AC1SportTxt"/>
          <p:cNvSpPr/>
          <p:nvPr/>
        </p:nvSpPr>
        <p:spPr>
          <a:xfrm>
            <a:off x="6766560" y="3017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</a:rPr>
              <a:t>Sport</a:t>
            </a:r>
            <a:endParaRPr lang="en-US" sz="850" dirty="0"/>
          </a:p>
        </p:txBody>
      </p:sp>
      <p:sp>
        <p:nvSpPr>
          <p:cNvPr id="27" name="AC1TimePill"/>
          <p:cNvSpPr/>
          <p:nvPr/>
        </p:nvSpPr>
        <p:spPr>
          <a:xfrm>
            <a:off x="7452360" y="292608"/>
            <a:ext cx="822960" cy="219456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8" name="AC1Time"/>
          <p:cNvSpPr/>
          <p:nvPr/>
        </p:nvSpPr>
        <p:spPr>
          <a:xfrm>
            <a:off x="7452360" y="301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</a:rPr>
              <a:t>In 3 days</a:t>
            </a:r>
            <a:endParaRPr lang="en-US" sz="850" dirty="0"/>
          </a:p>
        </p:txBody>
      </p:sp>
      <p:sp>
        <p:nvSpPr>
          <p:cNvPr id="29" name="AC1Desc"/>
          <p:cNvSpPr/>
          <p:nvPr/>
        </p:nvSpPr>
        <p:spPr>
          <a:xfrm>
            <a:off x="2926080" y="6583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A friendly 5-a-side game — all skill levels welcome!</a:t>
            </a:r>
            <a:endParaRPr lang="en-US" sz="1000" dirty="0"/>
          </a:p>
        </p:txBody>
      </p:sp>
      <p:sp>
        <p:nvSpPr>
          <p:cNvPr id="30" name="AC1Details"/>
          <p:cNvSpPr/>
          <p:nvPr/>
        </p:nvSpPr>
        <p:spPr>
          <a:xfrm>
            <a:off x="2926080" y="9326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</a:rPr>
              <a:t>Sun Apr 19 · Riverside Park · 5 spots left · +120 coins 🪙</a:t>
            </a:r>
            <a:endParaRPr lang="en-US" sz="1000" dirty="0"/>
          </a:p>
        </p:txBody>
      </p:sp>
      <p:sp>
        <p:nvSpPr>
          <p:cNvPr id="31" name="AC1PBg"/>
          <p:cNvSpPr/>
          <p:nvPr/>
        </p:nvSpPr>
        <p:spPr>
          <a:xfrm>
            <a:off x="2926080" y="1280160"/>
            <a:ext cx="5029200" cy="109728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AC1PFill"/>
          <p:cNvSpPr/>
          <p:nvPr/>
        </p:nvSpPr>
        <p:spPr>
          <a:xfrm>
            <a:off x="2926080" y="1280160"/>
            <a:ext cx="2514600" cy="10972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AC1PText"/>
          <p:cNvSpPr/>
          <p:nvPr/>
        </p:nvSpPr>
        <p:spPr>
          <a:xfrm>
            <a:off x="8046720" y="12527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5/10</a:t>
            </a:r>
            <a:endParaRPr lang="en-US" sz="850" dirty="0"/>
          </a:p>
        </p:txBody>
      </p:sp>
      <p:sp>
        <p:nvSpPr>
          <p:cNvPr id="34" name="AC1Btn"/>
          <p:cNvSpPr/>
          <p:nvPr/>
        </p:nvSpPr>
        <p:spPr>
          <a:xfrm>
            <a:off x="2926080" y="1508760"/>
            <a:ext cx="5760720" cy="36576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AC1BtnTxt"/>
          <p:cNvSpPr/>
          <p:nvPr/>
        </p:nvSpPr>
        <p:spPr>
          <a:xfrm>
            <a:off x="2926080" y="1554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RSVP — I'm in!</a:t>
            </a:r>
            <a:endParaRPr lang="en-US" sz="1200" dirty="0"/>
          </a:p>
        </p:txBody>
      </p:sp>
      <p:sp>
        <p:nvSpPr>
          <p:cNvPr id="36" name="AC2Bg"/>
          <p:cNvSpPr/>
          <p:nvPr/>
        </p:nvSpPr>
        <p:spPr>
          <a:xfrm>
            <a:off x="2834640" y="2514600"/>
            <a:ext cx="6080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AC2Top"/>
          <p:cNvSpPr/>
          <p:nvPr/>
        </p:nvSpPr>
        <p:spPr>
          <a:xfrm>
            <a:off x="2834640" y="2514600"/>
            <a:ext cx="6080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AC2Icon"/>
          <p:cNvSpPr/>
          <p:nvPr/>
        </p:nvSpPr>
        <p:spPr>
          <a:xfrm>
            <a:off x="292608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🎾</a:t>
            </a:r>
            <a:endParaRPr lang="en-US" sz="1600" dirty="0"/>
          </a:p>
        </p:txBody>
      </p:sp>
      <p:sp>
        <p:nvSpPr>
          <p:cNvPr id="39" name="AC2Title"/>
          <p:cNvSpPr/>
          <p:nvPr/>
        </p:nvSpPr>
        <p:spPr>
          <a:xfrm>
            <a:off x="34290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Tennis Tournament Friday</a:t>
            </a:r>
            <a:endParaRPr lang="en-US" sz="1400" dirty="0"/>
          </a:p>
        </p:txBody>
      </p:sp>
      <p:sp>
        <p:nvSpPr>
          <p:cNvPr id="40" name="AC2SportTag"/>
          <p:cNvSpPr/>
          <p:nvPr/>
        </p:nvSpPr>
        <p:spPr>
          <a:xfrm>
            <a:off x="6766560" y="2670048"/>
            <a:ext cx="594360" cy="219456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1" name="AC2SportTxt"/>
          <p:cNvSpPr/>
          <p:nvPr/>
        </p:nvSpPr>
        <p:spPr>
          <a:xfrm>
            <a:off x="6766560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</a:rPr>
              <a:t>Sport</a:t>
            </a:r>
            <a:endParaRPr lang="en-US" sz="850" dirty="0"/>
          </a:p>
        </p:txBody>
      </p:sp>
      <p:sp>
        <p:nvSpPr>
          <p:cNvPr id="42" name="AC2TimePill"/>
          <p:cNvSpPr/>
          <p:nvPr/>
        </p:nvSpPr>
        <p:spPr>
          <a:xfrm>
            <a:off x="7452360" y="2670048"/>
            <a:ext cx="822960" cy="219456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AC2Time"/>
          <p:cNvSpPr/>
          <p:nvPr/>
        </p:nvSpPr>
        <p:spPr>
          <a:xfrm>
            <a:off x="7452360" y="2679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In 5 days</a:t>
            </a:r>
            <a:endParaRPr lang="en-US" sz="850" dirty="0"/>
          </a:p>
        </p:txBody>
      </p:sp>
      <p:sp>
        <p:nvSpPr>
          <p:cNvPr id="44" name="AC2Desc"/>
          <p:cNvSpPr/>
          <p:nvPr/>
        </p:nvSpPr>
        <p:spPr>
          <a:xfrm>
            <a:off x="2926080" y="30358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Singles and doubles brackets — compete for glory and coins!</a:t>
            </a:r>
            <a:endParaRPr lang="en-US" sz="1000" dirty="0"/>
          </a:p>
        </p:txBody>
      </p:sp>
      <p:sp>
        <p:nvSpPr>
          <p:cNvPr id="45" name="AC2Details"/>
          <p:cNvSpPr/>
          <p:nvPr/>
        </p:nvSpPr>
        <p:spPr>
          <a:xfrm>
            <a:off x="2926080" y="33101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</a:rPr>
              <a:t>Fri Apr 18 · TechCorp Sports Hall · 9 going / 16 max · +200 coins 🏆</a:t>
            </a:r>
            <a:endParaRPr lang="en-US" sz="1000" dirty="0"/>
          </a:p>
        </p:txBody>
      </p:sp>
      <p:sp>
        <p:nvSpPr>
          <p:cNvPr id="46" name="AC2Btn"/>
          <p:cNvSpPr/>
          <p:nvPr/>
        </p:nvSpPr>
        <p:spPr>
          <a:xfrm>
            <a:off x="2926080" y="3703320"/>
            <a:ext cx="576072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AC2BtnTxt"/>
          <p:cNvSpPr/>
          <p:nvPr/>
        </p:nvSpPr>
        <p:spPr>
          <a:xfrm>
            <a:off x="2926080" y="3749039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✓ Going — Click to cancel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LeftPanel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1:1 Messaging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Connect directly with your matches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Note1"/>
          <p:cNvSpPr/>
          <p:nvPr/>
        </p:nvSpPr>
        <p:spPr>
          <a:xfrm>
            <a:off x="18288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Realtime via Supabase</a:t>
            </a:r>
            <a:endParaRPr lang="en-US" sz="900" dirty="0"/>
          </a:p>
        </p:txBody>
      </p:sp>
      <p:sp>
        <p:nvSpPr>
          <p:cNvPr id="8" name="Note2"/>
          <p:cNvSpPr/>
          <p:nvPr/>
        </p:nvSpPr>
        <p:spPr>
          <a:xfrm>
            <a:off x="18288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</a:rPr>
              <a:t>2 unread messages</a:t>
            </a:r>
            <a:endParaRPr lang="en-US" sz="900" dirty="0"/>
          </a:p>
        </p:txBody>
      </p:sp>
      <p:sp>
        <p:nvSpPr>
          <p:cNvPr id="9" name="ChatEmoji"/>
          <p:cNvSpPr/>
          <p:nvPr/>
        </p:nvSpPr>
        <p:spPr>
          <a:xfrm>
            <a:off x="77724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111827"/>
                </a:solidFill>
                <a:latin typeface="Calibri" pitchFamily="34" charset="0"/>
              </a:rPr>
              <a:t>💬</a:t>
            </a:r>
            <a:endParaRPr lang="en-US" sz="4500" dirty="0"/>
          </a:p>
        </p:txBody>
      </p:sp>
      <p:sp>
        <p:nvSpPr>
          <p:cNvPr id="10" name="MsgPanel"/>
          <p:cNvSpPr/>
          <p:nvPr/>
        </p:nvSpPr>
        <p:spPr>
          <a:xfrm>
            <a:off x="2834640" y="0"/>
            <a:ext cx="24231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sgPanelBorder"/>
          <p:cNvSpPr/>
          <p:nvPr/>
        </p:nvSpPr>
        <p:spPr>
          <a:xfrm>
            <a:off x="5230368" y="0"/>
            <a:ext cx="18288" cy="51435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MsgTitle"/>
          <p:cNvSpPr/>
          <p:nvPr/>
        </p:nvSpPr>
        <p:spPr>
          <a:xfrm>
            <a:off x="297180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</a:rPr>
              <a:t>Messages</a:t>
            </a:r>
            <a:endParaRPr lang="en-US" sz="1600" dirty="0"/>
          </a:p>
        </p:txBody>
      </p:sp>
      <p:sp>
        <p:nvSpPr>
          <p:cNvPr id="13" name="MsgDivider"/>
          <p:cNvSpPr/>
          <p:nvPr/>
        </p:nvSpPr>
        <p:spPr>
          <a:xfrm>
            <a:off x="2834640" y="566928"/>
            <a:ext cx="239572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Conv1Bg"/>
          <p:cNvSpPr/>
          <p:nvPr/>
        </p:nvSpPr>
        <p:spPr>
          <a:xfrm>
            <a:off x="2834640" y="576072"/>
            <a:ext cx="2395728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5" name="Conv1Av"/>
          <p:cNvSpPr/>
          <p:nvPr/>
        </p:nvSpPr>
        <p:spPr>
          <a:xfrm>
            <a:off x="2971800" y="713232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Conv1AvTxt"/>
          <p:cNvSpPr/>
          <p:nvPr/>
        </p:nvSpPr>
        <p:spPr>
          <a:xfrm>
            <a:off x="2971800" y="7315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SC</a:t>
            </a:r>
            <a:endParaRPr lang="en-US" sz="1000" dirty="0"/>
          </a:p>
        </p:txBody>
      </p:sp>
      <p:sp>
        <p:nvSpPr>
          <p:cNvPr id="17" name="Conv1Name"/>
          <p:cNvSpPr/>
          <p:nvPr/>
        </p:nvSpPr>
        <p:spPr>
          <a:xfrm>
            <a:off x="3520440" y="640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</a:rPr>
              <a:t>Sarah Chen</a:t>
            </a:r>
            <a:endParaRPr lang="en-US" sz="1050" dirty="0"/>
          </a:p>
        </p:txBody>
      </p:sp>
      <p:sp>
        <p:nvSpPr>
          <p:cNvPr id="18" name="Conv1Time"/>
          <p:cNvSpPr/>
          <p:nvPr/>
        </p:nvSpPr>
        <p:spPr>
          <a:xfrm>
            <a:off x="4800600" y="640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2m ago</a:t>
            </a:r>
            <a:endParaRPr lang="en-US" sz="850" dirty="0"/>
          </a:p>
        </p:txBody>
      </p:sp>
      <p:sp>
        <p:nvSpPr>
          <p:cNvPr id="19" name="Conv1Msg"/>
          <p:cNvSpPr/>
          <p:nvPr/>
        </p:nvSpPr>
        <p:spPr>
          <a:xfrm>
            <a:off x="3520440" y="886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Are you joining the tennis...</a:t>
            </a:r>
            <a:endParaRPr lang="en-US" sz="900" dirty="0"/>
          </a:p>
        </p:txBody>
      </p:sp>
      <p:sp>
        <p:nvSpPr>
          <p:cNvPr id="20" name="UnreadBadge1"/>
          <p:cNvSpPr/>
          <p:nvPr/>
        </p:nvSpPr>
        <p:spPr>
          <a:xfrm>
            <a:off x="4892040" y="749808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UnreadNum1"/>
          <p:cNvSpPr/>
          <p:nvPr/>
        </p:nvSpPr>
        <p:spPr>
          <a:xfrm>
            <a:off x="4892040" y="7589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  <a:endParaRPr lang="en-US" sz="900" dirty="0"/>
          </a:p>
        </p:txBody>
      </p:sp>
      <p:sp>
        <p:nvSpPr>
          <p:cNvPr id="22" name="MsgDiv1"/>
          <p:cNvSpPr/>
          <p:nvPr/>
        </p:nvSpPr>
        <p:spPr>
          <a:xfrm>
            <a:off x="2834640" y="1261872"/>
            <a:ext cx="239572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Conv2Av"/>
          <p:cNvSpPr/>
          <p:nvPr/>
        </p:nvSpPr>
        <p:spPr>
          <a:xfrm>
            <a:off x="2971800" y="141732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Conv2AvTxt"/>
          <p:cNvSpPr/>
          <p:nvPr/>
        </p:nvSpPr>
        <p:spPr>
          <a:xfrm>
            <a:off x="2971800" y="1435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JW</a:t>
            </a:r>
            <a:endParaRPr lang="en-US" sz="1000" dirty="0"/>
          </a:p>
        </p:txBody>
      </p:sp>
      <p:sp>
        <p:nvSpPr>
          <p:cNvPr id="25" name="Conv2Name"/>
          <p:cNvSpPr/>
          <p:nvPr/>
        </p:nvSpPr>
        <p:spPr>
          <a:xfrm>
            <a:off x="3520440" y="1353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</a:rPr>
              <a:t>James Wilson</a:t>
            </a:r>
            <a:endParaRPr lang="en-US" sz="1050" dirty="0"/>
          </a:p>
        </p:txBody>
      </p:sp>
      <p:sp>
        <p:nvSpPr>
          <p:cNvPr id="26" name="Conv2Time"/>
          <p:cNvSpPr/>
          <p:nvPr/>
        </p:nvSpPr>
        <p:spPr>
          <a:xfrm>
            <a:off x="4754880" y="1353312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1h ago</a:t>
            </a:r>
            <a:endParaRPr lang="en-US" sz="850" dirty="0"/>
          </a:p>
        </p:txBody>
      </p:sp>
      <p:sp>
        <p:nvSpPr>
          <p:cNvPr id="27" name="Conv2Msg"/>
          <p:cNvSpPr/>
          <p:nvPr/>
        </p:nvSpPr>
        <p:spPr>
          <a:xfrm>
            <a:off x="3520440" y="16002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Board games night this Friday 🎲</a:t>
            </a:r>
            <a:endParaRPr lang="en-US" sz="900" dirty="0"/>
          </a:p>
        </p:txBody>
      </p:sp>
      <p:sp>
        <p:nvSpPr>
          <p:cNvPr id="28" name="MsgDiv2"/>
          <p:cNvSpPr/>
          <p:nvPr/>
        </p:nvSpPr>
        <p:spPr>
          <a:xfrm>
            <a:off x="2834640" y="1965960"/>
            <a:ext cx="239572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Conv3Av"/>
          <p:cNvSpPr/>
          <p:nvPr/>
        </p:nvSpPr>
        <p:spPr>
          <a:xfrm>
            <a:off x="2971800" y="2121408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Conv3AvTxt"/>
          <p:cNvSpPr/>
          <p:nvPr/>
        </p:nvSpPr>
        <p:spPr>
          <a:xfrm>
            <a:off x="2971800" y="2139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YC</a:t>
            </a:r>
            <a:endParaRPr lang="en-US" sz="1000" dirty="0"/>
          </a:p>
        </p:txBody>
      </p:sp>
      <p:sp>
        <p:nvSpPr>
          <p:cNvPr id="31" name="Conv3Name"/>
          <p:cNvSpPr/>
          <p:nvPr/>
        </p:nvSpPr>
        <p:spPr>
          <a:xfrm>
            <a:off x="352044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</a:rPr>
              <a:t>Yael Cohen</a:t>
            </a:r>
            <a:endParaRPr lang="en-US" sz="1050" dirty="0"/>
          </a:p>
        </p:txBody>
      </p:sp>
      <p:sp>
        <p:nvSpPr>
          <p:cNvPr id="32" name="Conv3Time"/>
          <p:cNvSpPr/>
          <p:nvPr/>
        </p:nvSpPr>
        <p:spPr>
          <a:xfrm>
            <a:off x="4754880" y="2057400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</a:rPr>
              <a:t>3h ago</a:t>
            </a:r>
            <a:endParaRPr lang="en-US" sz="850" dirty="0"/>
          </a:p>
        </p:txBody>
      </p:sp>
      <p:sp>
        <p:nvSpPr>
          <p:cNvPr id="33" name="Conv3Msg"/>
          <p:cNvSpPr/>
          <p:nvPr/>
        </p:nvSpPr>
        <p:spPr>
          <a:xfrm>
            <a:off x="3520440" y="2304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Coffee chat tomorrow?</a:t>
            </a:r>
            <a:endParaRPr lang="en-US" sz="900" dirty="0"/>
          </a:p>
        </p:txBody>
      </p:sp>
      <p:sp>
        <p:nvSpPr>
          <p:cNvPr id="34" name="UnreadBadge3"/>
          <p:cNvSpPr/>
          <p:nvPr/>
        </p:nvSpPr>
        <p:spPr>
          <a:xfrm>
            <a:off x="4892040" y="2167128"/>
            <a:ext cx="237744" cy="23774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UnreadNum3"/>
          <p:cNvSpPr/>
          <p:nvPr/>
        </p:nvSpPr>
        <p:spPr>
          <a:xfrm>
            <a:off x="4892040" y="21762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  <a:endParaRPr lang="en-US" sz="900" dirty="0"/>
          </a:p>
        </p:txBody>
      </p:sp>
      <p:sp>
        <p:nvSpPr>
          <p:cNvPr id="36" name="ChatArea"/>
          <p:cNvSpPr/>
          <p:nvPr/>
        </p:nvSpPr>
        <p:spPr>
          <a:xfrm>
            <a:off x="5248656" y="0"/>
            <a:ext cx="3895344" cy="5143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7" name="ChatEmptyIcon"/>
          <p:cNvSpPr/>
          <p:nvPr/>
        </p:nvSpPr>
        <p:spPr>
          <a:xfrm>
            <a:off x="685800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D1D5DB"/>
                </a:solidFill>
                <a:latin typeface="Calibri" pitchFamily="34" charset="0"/>
              </a:rPr>
              <a:t>💬</a:t>
            </a:r>
            <a:endParaRPr lang="en-US" sz="4200" dirty="0"/>
          </a:p>
        </p:txBody>
      </p:sp>
      <p:sp>
        <p:nvSpPr>
          <p:cNvPr id="38" name="ChatEmptyTitle"/>
          <p:cNvSpPr/>
          <p:nvPr/>
        </p:nvSpPr>
        <p:spPr>
          <a:xfrm>
            <a:off x="5248656" y="265176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</a:rPr>
              <a:t>Select a conversation</a:t>
            </a:r>
            <a:endParaRPr lang="en-US" sz="1600" dirty="0"/>
          </a:p>
        </p:txBody>
      </p:sp>
      <p:sp>
        <p:nvSpPr>
          <p:cNvPr id="39" name="ChatEmptySub"/>
          <p:cNvSpPr/>
          <p:nvPr/>
        </p:nvSpPr>
        <p:spPr>
          <a:xfrm>
            <a:off x="5248656" y="301752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</a:rPr>
              <a:t>Choose from your matches on the left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LeftPanel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Gamification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Coins, badges and friendly competition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Desc1"/>
          <p:cNvSpPr/>
          <p:nvPr/>
        </p:nvSpPr>
        <p:spPr>
          <a:xfrm>
            <a:off x="1828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Earn coins by joining activities</a:t>
            </a:r>
            <a:endParaRPr lang="en-US" sz="950" dirty="0"/>
          </a:p>
        </p:txBody>
      </p:sp>
      <p:sp>
        <p:nvSpPr>
          <p:cNvPr id="8" name="Desc2"/>
          <p:cNvSpPr/>
          <p:nvPr/>
        </p:nvSpPr>
        <p:spPr>
          <a:xfrm>
            <a:off x="18288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Unlock badges for milestones</a:t>
            </a:r>
            <a:endParaRPr lang="en-US" sz="950" dirty="0"/>
          </a:p>
        </p:txBody>
      </p:sp>
      <p:sp>
        <p:nvSpPr>
          <p:cNvPr id="9" name="Desc3"/>
          <p:cNvSpPr/>
          <p:nvPr/>
        </p:nvSpPr>
        <p:spPr>
          <a:xfrm>
            <a:off x="18288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Compete on company leaderboard</a:t>
            </a:r>
            <a:endParaRPr lang="en-US" sz="950" dirty="0"/>
          </a:p>
        </p:txBody>
      </p:sp>
      <p:sp>
        <p:nvSpPr>
          <p:cNvPr id="10" name="LeftEmoji"/>
          <p:cNvSpPr/>
          <p:nvPr/>
        </p:nvSpPr>
        <p:spPr>
          <a:xfrm>
            <a:off x="8229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97316"/>
                </a:solidFill>
                <a:latin typeface="Calibri" pitchFamily="34" charset="0"/>
              </a:rPr>
              <a:t>🏆</a:t>
            </a:r>
            <a:endParaRPr lang="en-US" sz="4500" dirty="0"/>
          </a:p>
        </p:txBody>
      </p:sp>
      <p:sp>
        <p:nvSpPr>
          <p:cNvPr id="11" name="RankCard"/>
          <p:cNvSpPr/>
          <p:nvPr/>
        </p:nvSpPr>
        <p:spPr>
          <a:xfrm>
            <a:off x="2834640" y="137160"/>
            <a:ext cx="608076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RankText"/>
          <p:cNvSpPr/>
          <p:nvPr/>
        </p:nvSpPr>
        <p:spPr>
          <a:xfrm>
            <a:off x="292608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Your Rank  #11  at TechCorp this month</a:t>
            </a:r>
            <a:endParaRPr lang="en-US" sz="1400" dirty="0"/>
          </a:p>
        </p:txBody>
      </p:sp>
      <p:sp>
        <p:nvSpPr>
          <p:cNvPr id="13" name="CoinsText"/>
          <p:cNvSpPr/>
          <p:nvPr/>
        </p:nvSpPr>
        <p:spPr>
          <a:xfrm>
            <a:off x="292608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🪙 450 coins  ·  550 more to Gold ⭐</a:t>
            </a:r>
            <a:endParaRPr lang="en-US" sz="1000" dirty="0"/>
          </a:p>
        </p:txBody>
      </p:sp>
      <p:sp>
        <p:nvSpPr>
          <p:cNvPr id="14" name="BadgeHeader"/>
          <p:cNvSpPr/>
          <p:nvPr/>
        </p:nvSpPr>
        <p:spPr>
          <a:xfrm>
            <a:off x="2834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Your Badges</a:t>
            </a:r>
            <a:endParaRPr lang="en-US" sz="1400" dirty="0"/>
          </a:p>
        </p:txBody>
      </p:sp>
      <p:sp>
        <p:nvSpPr>
          <p:cNvPr id="15" name="Badge1Bg"/>
          <p:cNvSpPr/>
          <p:nvPr/>
        </p:nvSpPr>
        <p:spPr>
          <a:xfrm>
            <a:off x="2834640" y="1353312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6" name="Badge1Name"/>
          <p:cNvSpPr/>
          <p:nvPr/>
        </p:nvSpPr>
        <p:spPr>
          <a:xfrm>
            <a:off x="2907792" y="138988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</a:rPr>
              <a:t>🤝 First Connection</a:t>
            </a:r>
            <a:endParaRPr lang="en-US" sz="950" dirty="0"/>
          </a:p>
        </p:txBody>
      </p:sp>
      <p:sp>
        <p:nvSpPr>
          <p:cNvPr id="17" name="Badge1Status"/>
          <p:cNvSpPr/>
          <p:nvPr/>
        </p:nvSpPr>
        <p:spPr>
          <a:xfrm>
            <a:off x="2907792" y="16642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</a:rPr>
              <a:t>✓ Earned</a:t>
            </a:r>
            <a:endParaRPr lang="en-US" sz="900" dirty="0"/>
          </a:p>
        </p:txBody>
      </p:sp>
      <p:sp>
        <p:nvSpPr>
          <p:cNvPr id="18" name="Badge2Bg"/>
          <p:cNvSpPr/>
          <p:nvPr/>
        </p:nvSpPr>
        <p:spPr>
          <a:xfrm>
            <a:off x="4800600" y="1353312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9" name="Badge2Name"/>
          <p:cNvSpPr/>
          <p:nvPr/>
        </p:nvSpPr>
        <p:spPr>
          <a:xfrm>
            <a:off x="4873752" y="138988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</a:rPr>
              <a:t>🏃 Activity Starter</a:t>
            </a:r>
            <a:endParaRPr lang="en-US" sz="950" dirty="0"/>
          </a:p>
        </p:txBody>
      </p:sp>
      <p:sp>
        <p:nvSpPr>
          <p:cNvPr id="20" name="Badge2Status"/>
          <p:cNvSpPr/>
          <p:nvPr/>
        </p:nvSpPr>
        <p:spPr>
          <a:xfrm>
            <a:off x="4873752" y="16642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</a:rPr>
              <a:t>✓ Earned</a:t>
            </a:r>
            <a:endParaRPr lang="en-US" sz="900" dirty="0"/>
          </a:p>
        </p:txBody>
      </p:sp>
      <p:sp>
        <p:nvSpPr>
          <p:cNvPr id="21" name="Badge3Bg"/>
          <p:cNvSpPr/>
          <p:nvPr/>
        </p:nvSpPr>
        <p:spPr>
          <a:xfrm>
            <a:off x="6766560" y="1353312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2" name="Badge3Name"/>
          <p:cNvSpPr/>
          <p:nvPr/>
        </p:nvSpPr>
        <p:spPr>
          <a:xfrm>
            <a:off x="6839712" y="138988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</a:rPr>
              <a:t>⭐ Rising Star</a:t>
            </a:r>
            <a:endParaRPr lang="en-US" sz="950" dirty="0"/>
          </a:p>
        </p:txBody>
      </p:sp>
      <p:sp>
        <p:nvSpPr>
          <p:cNvPr id="23" name="Badge3Status"/>
          <p:cNvSpPr/>
          <p:nvPr/>
        </p:nvSpPr>
        <p:spPr>
          <a:xfrm>
            <a:off x="6839712" y="166420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</a:rPr>
              <a:t>✓ Earned</a:t>
            </a:r>
            <a:endParaRPr lang="en-US" sz="900" dirty="0"/>
          </a:p>
        </p:txBody>
      </p:sp>
      <p:sp>
        <p:nvSpPr>
          <p:cNvPr id="24" name="Badge4Bg"/>
          <p:cNvSpPr/>
          <p:nvPr/>
        </p:nvSpPr>
        <p:spPr>
          <a:xfrm>
            <a:off x="2834640" y="2121408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Badge4Name"/>
          <p:cNvSpPr/>
          <p:nvPr/>
        </p:nvSpPr>
        <p:spPr>
          <a:xfrm>
            <a:off x="2907792" y="215798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🎾 Sports Enthusiast</a:t>
            </a:r>
            <a:endParaRPr lang="en-US" sz="950" dirty="0"/>
          </a:p>
        </p:txBody>
      </p:sp>
      <p:sp>
        <p:nvSpPr>
          <p:cNvPr id="26" name="Badge4Status"/>
          <p:cNvSpPr/>
          <p:nvPr/>
        </p:nvSpPr>
        <p:spPr>
          <a:xfrm>
            <a:off x="2907792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</a:rPr>
              <a:t>0/5 activities</a:t>
            </a:r>
            <a:endParaRPr lang="en-US" sz="900" dirty="0"/>
          </a:p>
        </p:txBody>
      </p:sp>
      <p:sp>
        <p:nvSpPr>
          <p:cNvPr id="27" name="Badge5Bg"/>
          <p:cNvSpPr/>
          <p:nvPr/>
        </p:nvSpPr>
        <p:spPr>
          <a:xfrm>
            <a:off x="4800600" y="2121408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Badge5Name"/>
          <p:cNvSpPr/>
          <p:nvPr/>
        </p:nvSpPr>
        <p:spPr>
          <a:xfrm>
            <a:off x="4873752" y="215798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💬 Connector</a:t>
            </a:r>
            <a:endParaRPr lang="en-US" sz="950" dirty="0"/>
          </a:p>
        </p:txBody>
      </p:sp>
      <p:sp>
        <p:nvSpPr>
          <p:cNvPr id="29" name="Badge5Status"/>
          <p:cNvSpPr/>
          <p:nvPr/>
        </p:nvSpPr>
        <p:spPr>
          <a:xfrm>
            <a:off x="4873752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</a:rPr>
              <a:t>0/10 messages</a:t>
            </a:r>
            <a:endParaRPr lang="en-US" sz="900" dirty="0"/>
          </a:p>
        </p:txBody>
      </p:sp>
      <p:sp>
        <p:nvSpPr>
          <p:cNvPr id="30" name="Badge6Bg"/>
          <p:cNvSpPr/>
          <p:nvPr/>
        </p:nvSpPr>
        <p:spPr>
          <a:xfrm>
            <a:off x="6766560" y="2121408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Badge6Name"/>
          <p:cNvSpPr/>
          <p:nvPr/>
        </p:nvSpPr>
        <p:spPr>
          <a:xfrm>
            <a:off x="6839712" y="215798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🏆 Top 10</a:t>
            </a:r>
            <a:endParaRPr lang="en-US" sz="950" dirty="0"/>
          </a:p>
        </p:txBody>
      </p:sp>
      <p:sp>
        <p:nvSpPr>
          <p:cNvPr id="32" name="Badge6Status"/>
          <p:cNvSpPr/>
          <p:nvPr/>
        </p:nvSpPr>
        <p:spPr>
          <a:xfrm>
            <a:off x="6839712" y="24323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</a:rPr>
              <a:t>Rank #11 now</a:t>
            </a:r>
            <a:endParaRPr lang="en-US" sz="900" dirty="0"/>
          </a:p>
        </p:txBody>
      </p:sp>
      <p:sp>
        <p:nvSpPr>
          <p:cNvPr id="33" name="LBHeader"/>
          <p:cNvSpPr/>
          <p:nvPr/>
        </p:nvSpPr>
        <p:spPr>
          <a:xfrm>
            <a:off x="283464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</a:rPr>
              <a:t>Leaderboard</a:t>
            </a:r>
            <a:endParaRPr lang="en-US" sz="1400" dirty="0"/>
          </a:p>
        </p:txBody>
      </p:sp>
      <p:sp>
        <p:nvSpPr>
          <p:cNvPr id="34" name="LB1Bg"/>
          <p:cNvSpPr/>
          <p:nvPr/>
        </p:nvSpPr>
        <p:spPr>
          <a:xfrm>
            <a:off x="2834640" y="3310128"/>
            <a:ext cx="6080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LB1Medal"/>
          <p:cNvSpPr/>
          <p:nvPr/>
        </p:nvSpPr>
        <p:spPr>
          <a:xfrm>
            <a:off x="2926080" y="33741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🥇</a:t>
            </a:r>
            <a:endParaRPr lang="en-US" sz="1600" dirty="0"/>
          </a:p>
        </p:txBody>
      </p:sp>
      <p:sp>
        <p:nvSpPr>
          <p:cNvPr id="36" name="LB1Av"/>
          <p:cNvSpPr/>
          <p:nvPr/>
        </p:nvSpPr>
        <p:spPr>
          <a:xfrm>
            <a:off x="3337560" y="3364992"/>
            <a:ext cx="347472" cy="347472"/>
          </a:xfrm>
          <a:prstGeom prst="ellipse">
            <a:avLst/>
          </a:prstGeom>
          <a:solidFill>
            <a:srgbClr val="22B55F"/>
          </a:solidFill>
          <a:ln w="12700">
            <a:solidFill>
              <a:srgbClr val="22B55F"/>
            </a:solidFill>
            <a:prstDash val="solid"/>
          </a:ln>
        </p:spPr>
      </p:sp>
      <p:sp>
        <p:nvSpPr>
          <p:cNvPr id="37" name="LB1AvTxt"/>
          <p:cNvSpPr/>
          <p:nvPr/>
        </p:nvSpPr>
        <p:spPr>
          <a:xfrm>
            <a:off x="3337560" y="33741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CP</a:t>
            </a:r>
            <a:endParaRPr lang="en-US" sz="850" dirty="0"/>
          </a:p>
        </p:txBody>
      </p:sp>
      <p:sp>
        <p:nvSpPr>
          <p:cNvPr id="38" name="LB1Name"/>
          <p:cNvSpPr/>
          <p:nvPr/>
        </p:nvSpPr>
        <p:spPr>
          <a:xfrm>
            <a:off x="379476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</a:rPr>
              <a:t>Chris Park · Engineering</a:t>
            </a:r>
            <a:endParaRPr lang="en-US" sz="1050" dirty="0"/>
          </a:p>
        </p:txBody>
      </p:sp>
      <p:sp>
        <p:nvSpPr>
          <p:cNvPr id="39" name="LB1LvlBg"/>
          <p:cNvSpPr/>
          <p:nvPr/>
        </p:nvSpPr>
        <p:spPr>
          <a:xfrm>
            <a:off x="6629400" y="3401568"/>
            <a:ext cx="1005840" cy="246888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40" name="LB1LvlTxt"/>
          <p:cNvSpPr/>
          <p:nvPr/>
        </p:nvSpPr>
        <p:spPr>
          <a:xfrm>
            <a:off x="6629400" y="3410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33EA"/>
                </a:solidFill>
                <a:latin typeface="Calibri" pitchFamily="34" charset="0"/>
              </a:rPr>
              <a:t>DIAMOND</a:t>
            </a:r>
            <a:endParaRPr lang="en-US" sz="850" dirty="0"/>
          </a:p>
        </p:txBody>
      </p:sp>
      <p:sp>
        <p:nvSpPr>
          <p:cNvPr id="41" name="LB1Coins"/>
          <p:cNvSpPr/>
          <p:nvPr/>
        </p:nvSpPr>
        <p:spPr>
          <a:xfrm>
            <a:off x="777240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</a:rPr>
              <a:t>🪙 2100</a:t>
            </a:r>
            <a:endParaRPr lang="en-US" sz="1100" dirty="0"/>
          </a:p>
        </p:txBody>
      </p:sp>
      <p:sp>
        <p:nvSpPr>
          <p:cNvPr id="42" name="LB2Bg"/>
          <p:cNvSpPr/>
          <p:nvPr/>
        </p:nvSpPr>
        <p:spPr>
          <a:xfrm>
            <a:off x="2834640" y="3858768"/>
            <a:ext cx="6080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LB2Medal"/>
          <p:cNvSpPr/>
          <p:nvPr/>
        </p:nvSpPr>
        <p:spPr>
          <a:xfrm>
            <a:off x="2926080" y="39227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🥈</a:t>
            </a:r>
            <a:endParaRPr lang="en-US" sz="1600" dirty="0"/>
          </a:p>
        </p:txBody>
      </p:sp>
      <p:sp>
        <p:nvSpPr>
          <p:cNvPr id="44" name="LB2Av"/>
          <p:cNvSpPr/>
          <p:nvPr/>
        </p:nvSpPr>
        <p:spPr>
          <a:xfrm>
            <a:off x="3337560" y="3913631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LB2AvTxt"/>
          <p:cNvSpPr/>
          <p:nvPr/>
        </p:nvSpPr>
        <p:spPr>
          <a:xfrm>
            <a:off x="3337560" y="39227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OH</a:t>
            </a:r>
            <a:endParaRPr lang="en-US" sz="850" dirty="0"/>
          </a:p>
        </p:txBody>
      </p:sp>
      <p:sp>
        <p:nvSpPr>
          <p:cNvPr id="46" name="LB2Name"/>
          <p:cNvSpPr/>
          <p:nvPr/>
        </p:nvSpPr>
        <p:spPr>
          <a:xfrm>
            <a:off x="3794760" y="395020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</a:rPr>
              <a:t>Omar Hassan · R&amp;D</a:t>
            </a:r>
            <a:endParaRPr lang="en-US" sz="1050" dirty="0"/>
          </a:p>
        </p:txBody>
      </p:sp>
      <p:sp>
        <p:nvSpPr>
          <p:cNvPr id="47" name="LB2LvlBg"/>
          <p:cNvSpPr/>
          <p:nvPr/>
        </p:nvSpPr>
        <p:spPr>
          <a:xfrm>
            <a:off x="6629400" y="3950207"/>
            <a:ext cx="1005840" cy="246888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48" name="LB2LvlTxt"/>
          <p:cNvSpPr/>
          <p:nvPr/>
        </p:nvSpPr>
        <p:spPr>
          <a:xfrm>
            <a:off x="6629400" y="39593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33EA"/>
                </a:solidFill>
                <a:latin typeface="Calibri" pitchFamily="34" charset="0"/>
              </a:rPr>
              <a:t>DIAMOND</a:t>
            </a:r>
            <a:endParaRPr lang="en-US" sz="850" dirty="0"/>
          </a:p>
        </p:txBody>
      </p:sp>
      <p:sp>
        <p:nvSpPr>
          <p:cNvPr id="49" name="LB2Coins"/>
          <p:cNvSpPr/>
          <p:nvPr/>
        </p:nvSpPr>
        <p:spPr>
          <a:xfrm>
            <a:off x="7772400" y="395020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</a:rPr>
              <a:t>🪙 1380</a:t>
            </a:r>
            <a:endParaRPr lang="en-US" sz="1100" dirty="0"/>
          </a:p>
        </p:txBody>
      </p:sp>
      <p:sp>
        <p:nvSpPr>
          <p:cNvPr id="50" name="LB3Bg"/>
          <p:cNvSpPr/>
          <p:nvPr/>
        </p:nvSpPr>
        <p:spPr>
          <a:xfrm>
            <a:off x="2834640" y="4407408"/>
            <a:ext cx="6080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LB3Medal"/>
          <p:cNvSpPr/>
          <p:nvPr/>
        </p:nvSpPr>
        <p:spPr>
          <a:xfrm>
            <a:off x="2926080" y="44714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</a:rPr>
              <a:t>🥉</a:t>
            </a:r>
            <a:endParaRPr lang="en-US" sz="1600" dirty="0"/>
          </a:p>
        </p:txBody>
      </p:sp>
      <p:sp>
        <p:nvSpPr>
          <p:cNvPr id="52" name="LB3Av"/>
          <p:cNvSpPr/>
          <p:nvPr/>
        </p:nvSpPr>
        <p:spPr>
          <a:xfrm>
            <a:off x="3337560" y="4462272"/>
            <a:ext cx="347472" cy="34747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3" name="LB3AvTxt"/>
          <p:cNvSpPr/>
          <p:nvPr/>
        </p:nvSpPr>
        <p:spPr>
          <a:xfrm>
            <a:off x="3337560" y="44714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SC</a:t>
            </a:r>
            <a:endParaRPr lang="en-US" sz="850" dirty="0"/>
          </a:p>
        </p:txBody>
      </p:sp>
      <p:sp>
        <p:nvSpPr>
          <p:cNvPr id="54" name="LB3Name"/>
          <p:cNvSpPr/>
          <p:nvPr/>
        </p:nvSpPr>
        <p:spPr>
          <a:xfrm>
            <a:off x="379476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</a:rPr>
              <a:t>Sarah Chen · Design</a:t>
            </a:r>
            <a:endParaRPr lang="en-US" sz="1050" dirty="0"/>
          </a:p>
        </p:txBody>
      </p:sp>
      <p:sp>
        <p:nvSpPr>
          <p:cNvPr id="55" name="LB3LvlBg"/>
          <p:cNvSpPr/>
          <p:nvPr/>
        </p:nvSpPr>
        <p:spPr>
          <a:xfrm>
            <a:off x="6629400" y="4498848"/>
            <a:ext cx="1005840" cy="246888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56" name="LB3LvlTxt"/>
          <p:cNvSpPr/>
          <p:nvPr/>
        </p:nvSpPr>
        <p:spPr>
          <a:xfrm>
            <a:off x="6629400" y="4507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</a:rPr>
              <a:t>GOLD</a:t>
            </a:r>
            <a:endParaRPr lang="en-US" sz="850" dirty="0"/>
          </a:p>
        </p:txBody>
      </p:sp>
      <p:sp>
        <p:nvSpPr>
          <p:cNvPr id="57" name="LB3Coins"/>
          <p:cNvSpPr/>
          <p:nvPr/>
        </p:nvSpPr>
        <p:spPr>
          <a:xfrm>
            <a:off x="7772400" y="4498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</a:rPr>
              <a:t>🪙 1240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LeftPanel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Reward Store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Spend coins on real perks and treats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Note1"/>
          <p:cNvSpPr/>
          <p:nvPr/>
        </p:nvSpPr>
        <p:spPr>
          <a:xfrm>
            <a:off x="1828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Company-funded perks</a:t>
            </a:r>
            <a:endParaRPr lang="en-US" sz="950" dirty="0"/>
          </a:p>
        </p:txBody>
      </p:sp>
      <p:sp>
        <p:nvSpPr>
          <p:cNvPr id="8" name="Note2"/>
          <p:cNvSpPr/>
          <p:nvPr/>
        </p:nvSpPr>
        <p:spPr>
          <a:xfrm>
            <a:off x="18288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Redeem instantly or save up</a:t>
            </a:r>
            <a:endParaRPr lang="en-US" sz="950" dirty="0"/>
          </a:p>
        </p:txBody>
      </p:sp>
      <p:sp>
        <p:nvSpPr>
          <p:cNvPr id="9" name="LeftEmoji"/>
          <p:cNvSpPr/>
          <p:nvPr/>
        </p:nvSpPr>
        <p:spPr>
          <a:xfrm>
            <a:off x="77724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97316"/>
                </a:solidFill>
                <a:latin typeface="Calibri" pitchFamily="34" charset="0"/>
              </a:rPr>
              <a:t>🎁</a:t>
            </a:r>
            <a:endParaRPr lang="en-US" sz="4500" dirty="0"/>
          </a:p>
        </p:txBody>
      </p:sp>
      <p:sp>
        <p:nvSpPr>
          <p:cNvPr id="10" name="BalCard"/>
          <p:cNvSpPr/>
          <p:nvPr/>
        </p:nvSpPr>
        <p:spPr>
          <a:xfrm>
            <a:off x="2834640" y="137160"/>
            <a:ext cx="608076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BalTitle"/>
          <p:cNvSpPr/>
          <p:nvPr/>
        </p:nvSpPr>
        <p:spPr>
          <a:xfrm>
            <a:off x="297180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Your balance  🪙 450</a:t>
            </a:r>
            <a:endParaRPr lang="en-US" sz="1400" dirty="0"/>
          </a:p>
        </p:txBody>
      </p:sp>
      <p:sp>
        <p:nvSpPr>
          <p:cNvPr id="12" name="BalSub"/>
          <p:cNvSpPr/>
          <p:nvPr/>
        </p:nvSpPr>
        <p:spPr>
          <a:xfrm>
            <a:off x="29718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Redeemed: 0 items</a:t>
            </a:r>
            <a:endParaRPr lang="en-US" sz="950" dirty="0"/>
          </a:p>
        </p:txBody>
      </p:sp>
      <p:sp>
        <p:nvSpPr>
          <p:cNvPr id="13" name="Pill0"/>
          <p:cNvSpPr/>
          <p:nvPr/>
        </p:nvSpPr>
        <p:spPr>
          <a:xfrm>
            <a:off x="2834640" y="941832"/>
            <a:ext cx="502920" cy="24688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PillTxt0"/>
          <p:cNvSpPr/>
          <p:nvPr/>
        </p:nvSpPr>
        <p:spPr>
          <a:xfrm>
            <a:off x="2834640" y="9601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Calibri" pitchFamily="34" charset="0"/>
              </a:rPr>
              <a:t>All</a:t>
            </a:r>
            <a:endParaRPr lang="en-US" sz="875" dirty="0"/>
          </a:p>
        </p:txBody>
      </p:sp>
      <p:sp>
        <p:nvSpPr>
          <p:cNvPr id="15" name="Pill1"/>
          <p:cNvSpPr/>
          <p:nvPr/>
        </p:nvSpPr>
        <p:spPr>
          <a:xfrm>
            <a:off x="3456432" y="941832"/>
            <a:ext cx="59436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PillTxt1"/>
          <p:cNvSpPr/>
          <p:nvPr/>
        </p:nvSpPr>
        <p:spPr>
          <a:xfrm>
            <a:off x="3456432" y="960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Food</a:t>
            </a:r>
            <a:endParaRPr lang="en-US" sz="875" dirty="0"/>
          </a:p>
        </p:txBody>
      </p:sp>
      <p:sp>
        <p:nvSpPr>
          <p:cNvPr id="17" name="Pill2"/>
          <p:cNvSpPr/>
          <p:nvPr/>
        </p:nvSpPr>
        <p:spPr>
          <a:xfrm>
            <a:off x="4069080" y="941832"/>
            <a:ext cx="96012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PillTxt2"/>
          <p:cNvSpPr/>
          <p:nvPr/>
        </p:nvSpPr>
        <p:spPr>
          <a:xfrm>
            <a:off x="4069080" y="96012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Wellness</a:t>
            </a:r>
            <a:endParaRPr lang="en-US" sz="875" dirty="0"/>
          </a:p>
        </p:txBody>
      </p:sp>
      <p:sp>
        <p:nvSpPr>
          <p:cNvPr id="19" name="Pill3"/>
          <p:cNvSpPr/>
          <p:nvPr/>
        </p:nvSpPr>
        <p:spPr>
          <a:xfrm>
            <a:off x="4892040" y="941832"/>
            <a:ext cx="141732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PillTxt3"/>
          <p:cNvSpPr/>
          <p:nvPr/>
        </p:nvSpPr>
        <p:spPr>
          <a:xfrm>
            <a:off x="4892040" y="96012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Entertainment</a:t>
            </a:r>
            <a:endParaRPr lang="en-US" sz="875" dirty="0"/>
          </a:p>
        </p:txBody>
      </p:sp>
      <p:sp>
        <p:nvSpPr>
          <p:cNvPr id="21" name="Pill4"/>
          <p:cNvSpPr/>
          <p:nvPr/>
        </p:nvSpPr>
        <p:spPr>
          <a:xfrm>
            <a:off x="6126480" y="941832"/>
            <a:ext cx="96012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PillTxt4"/>
          <p:cNvSpPr/>
          <p:nvPr/>
        </p:nvSpPr>
        <p:spPr>
          <a:xfrm>
            <a:off x="6126480" y="96012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Learning</a:t>
            </a:r>
            <a:endParaRPr lang="en-US" sz="875" dirty="0"/>
          </a:p>
        </p:txBody>
      </p:sp>
      <p:sp>
        <p:nvSpPr>
          <p:cNvPr id="23" name="Pill5"/>
          <p:cNvSpPr/>
          <p:nvPr/>
        </p:nvSpPr>
        <p:spPr>
          <a:xfrm>
            <a:off x="6766560" y="941832"/>
            <a:ext cx="96012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PillTxt5"/>
          <p:cNvSpPr/>
          <p:nvPr/>
        </p:nvSpPr>
        <p:spPr>
          <a:xfrm>
            <a:off x="6766560" y="96012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Shopping</a:t>
            </a:r>
            <a:endParaRPr lang="en-US" sz="875" dirty="0"/>
          </a:p>
        </p:txBody>
      </p:sp>
      <p:sp>
        <p:nvSpPr>
          <p:cNvPr id="25" name="Pill6"/>
          <p:cNvSpPr/>
          <p:nvPr/>
        </p:nvSpPr>
        <p:spPr>
          <a:xfrm>
            <a:off x="7498079" y="941832"/>
            <a:ext cx="868680" cy="246888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PillTxt6"/>
          <p:cNvSpPr/>
          <p:nvPr/>
        </p:nvSpPr>
        <p:spPr>
          <a:xfrm>
            <a:off x="7498079" y="96012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6B7280"/>
                </a:solidFill>
                <a:latin typeface="Calibri" pitchFamily="34" charset="0"/>
              </a:rPr>
              <a:t>Premium</a:t>
            </a:r>
            <a:endParaRPr lang="en-US" sz="875" dirty="0"/>
          </a:p>
        </p:txBody>
      </p:sp>
      <p:sp>
        <p:nvSpPr>
          <p:cNvPr id="27" name="R0Bg"/>
          <p:cNvSpPr/>
          <p:nvPr/>
        </p:nvSpPr>
        <p:spPr>
          <a:xfrm>
            <a:off x="2834640" y="1344168"/>
            <a:ext cx="6080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R0Icon"/>
          <p:cNvSpPr/>
          <p:nvPr/>
        </p:nvSpPr>
        <p:spPr>
          <a:xfrm>
            <a:off x="2926080" y="1527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</a:rPr>
              <a:t>☕</a:t>
            </a:r>
            <a:endParaRPr lang="en-US" sz="1800" dirty="0"/>
          </a:p>
        </p:txBody>
      </p:sp>
      <p:sp>
        <p:nvSpPr>
          <p:cNvPr id="29" name="R0Name"/>
          <p:cNvSpPr/>
          <p:nvPr/>
        </p:nvSpPr>
        <p:spPr>
          <a:xfrm>
            <a:off x="34747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</a:rPr>
              <a:t>Free Coffee</a:t>
            </a:r>
            <a:endParaRPr lang="en-US" sz="1200" dirty="0"/>
          </a:p>
        </p:txBody>
      </p:sp>
      <p:sp>
        <p:nvSpPr>
          <p:cNvPr id="30" name="R0Desc"/>
          <p:cNvSpPr/>
          <p:nvPr/>
        </p:nvSpPr>
        <p:spPr>
          <a:xfrm>
            <a:off x="3474720" y="1691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Redeem for a free coffee at the office cafe</a:t>
            </a:r>
            <a:endParaRPr lang="en-US" sz="900" dirty="0"/>
          </a:p>
        </p:txBody>
      </p:sp>
      <p:sp>
        <p:nvSpPr>
          <p:cNvPr id="31" name="R0Coins"/>
          <p:cNvSpPr/>
          <p:nvPr/>
        </p:nvSpPr>
        <p:spPr>
          <a:xfrm>
            <a:off x="6858000" y="1435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</a:rPr>
              <a:t>🪙 100</a:t>
            </a:r>
            <a:endParaRPr lang="en-US" sz="1100" dirty="0"/>
          </a:p>
        </p:txBody>
      </p:sp>
      <p:sp>
        <p:nvSpPr>
          <p:cNvPr id="32" name="R0Btn"/>
          <p:cNvSpPr/>
          <p:nvPr/>
        </p:nvSpPr>
        <p:spPr>
          <a:xfrm>
            <a:off x="7863840" y="1527048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R0BtnTxt"/>
          <p:cNvSpPr/>
          <p:nvPr/>
        </p:nvSpPr>
        <p:spPr>
          <a:xfrm>
            <a:off x="7863840" y="154533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Redeem</a:t>
            </a:r>
            <a:endParaRPr lang="en-US" sz="1000" dirty="0"/>
          </a:p>
        </p:txBody>
      </p:sp>
      <p:sp>
        <p:nvSpPr>
          <p:cNvPr id="34" name="R0Div"/>
          <p:cNvSpPr/>
          <p:nvPr/>
        </p:nvSpPr>
        <p:spPr>
          <a:xfrm>
            <a:off x="2834640" y="2084832"/>
            <a:ext cx="60807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R1Bg"/>
          <p:cNvSpPr/>
          <p:nvPr/>
        </p:nvSpPr>
        <p:spPr>
          <a:xfrm>
            <a:off x="2834640" y="2103120"/>
            <a:ext cx="6080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R1Icon"/>
          <p:cNvSpPr/>
          <p:nvPr/>
        </p:nvSpPr>
        <p:spPr>
          <a:xfrm>
            <a:off x="292608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</a:rPr>
              <a:t>🍕</a:t>
            </a:r>
            <a:endParaRPr lang="en-US" sz="1800" dirty="0"/>
          </a:p>
        </p:txBody>
      </p:sp>
      <p:sp>
        <p:nvSpPr>
          <p:cNvPr id="38" name="R1Name"/>
          <p:cNvSpPr/>
          <p:nvPr/>
        </p:nvSpPr>
        <p:spPr>
          <a:xfrm>
            <a:off x="347472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</a:rPr>
              <a:t>Team Lunch Voucher</a:t>
            </a:r>
            <a:endParaRPr lang="en-US" sz="1200" dirty="0"/>
          </a:p>
        </p:txBody>
      </p:sp>
      <p:sp>
        <p:nvSpPr>
          <p:cNvPr id="39" name="R1Desc"/>
          <p:cNvSpPr/>
          <p:nvPr/>
        </p:nvSpPr>
        <p:spPr>
          <a:xfrm>
            <a:off x="3474720" y="2450591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$20 voucher for a team lunch outing</a:t>
            </a:r>
            <a:endParaRPr lang="en-US" sz="900" dirty="0"/>
          </a:p>
        </p:txBody>
      </p:sp>
      <p:sp>
        <p:nvSpPr>
          <p:cNvPr id="40" name="R1Coins"/>
          <p:cNvSpPr/>
          <p:nvPr/>
        </p:nvSpPr>
        <p:spPr>
          <a:xfrm>
            <a:off x="6858000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</a:rPr>
              <a:t>🪙 300</a:t>
            </a:r>
            <a:endParaRPr lang="en-US" sz="1100" dirty="0"/>
          </a:p>
        </p:txBody>
      </p:sp>
      <p:sp>
        <p:nvSpPr>
          <p:cNvPr id="41" name="R1Btn"/>
          <p:cNvSpPr/>
          <p:nvPr/>
        </p:nvSpPr>
        <p:spPr>
          <a:xfrm>
            <a:off x="7863840" y="2286000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R1BtnTxt"/>
          <p:cNvSpPr/>
          <p:nvPr/>
        </p:nvSpPr>
        <p:spPr>
          <a:xfrm>
            <a:off x="7863840" y="230428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Redeem</a:t>
            </a:r>
            <a:endParaRPr lang="en-US" sz="1000" dirty="0"/>
          </a:p>
        </p:txBody>
      </p:sp>
      <p:sp>
        <p:nvSpPr>
          <p:cNvPr id="43" name="R1Div"/>
          <p:cNvSpPr/>
          <p:nvPr/>
        </p:nvSpPr>
        <p:spPr>
          <a:xfrm>
            <a:off x="2834640" y="2843784"/>
            <a:ext cx="60807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R2Bg"/>
          <p:cNvSpPr/>
          <p:nvPr/>
        </p:nvSpPr>
        <p:spPr>
          <a:xfrm>
            <a:off x="2834640" y="2862072"/>
            <a:ext cx="6080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R2Icon"/>
          <p:cNvSpPr/>
          <p:nvPr/>
        </p:nvSpPr>
        <p:spPr>
          <a:xfrm>
            <a:off x="2926080" y="30449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</a:rPr>
              <a:t>🎬</a:t>
            </a:r>
            <a:endParaRPr lang="en-US" sz="1800" dirty="0"/>
          </a:p>
        </p:txBody>
      </p:sp>
      <p:sp>
        <p:nvSpPr>
          <p:cNvPr id="47" name="R2Name"/>
          <p:cNvSpPr/>
          <p:nvPr/>
        </p:nvSpPr>
        <p:spPr>
          <a:xfrm>
            <a:off x="3474720" y="2935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</a:rPr>
              <a:t>Cinema Tickets (x2)</a:t>
            </a:r>
            <a:endParaRPr lang="en-US" sz="1200" dirty="0"/>
          </a:p>
        </p:txBody>
      </p:sp>
      <p:sp>
        <p:nvSpPr>
          <p:cNvPr id="48" name="R2Desc"/>
          <p:cNvSpPr/>
          <p:nvPr/>
        </p:nvSpPr>
        <p:spPr>
          <a:xfrm>
            <a:off x="3474720" y="3209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Two tickets to any movie</a:t>
            </a:r>
            <a:endParaRPr lang="en-US" sz="900" dirty="0"/>
          </a:p>
        </p:txBody>
      </p:sp>
      <p:sp>
        <p:nvSpPr>
          <p:cNvPr id="49" name="R2Coins"/>
          <p:cNvSpPr/>
          <p:nvPr/>
        </p:nvSpPr>
        <p:spPr>
          <a:xfrm>
            <a:off x="6858000" y="2953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</a:rPr>
              <a:t>🪙 500</a:t>
            </a:r>
            <a:endParaRPr lang="en-US" sz="1100" dirty="0"/>
          </a:p>
        </p:txBody>
      </p:sp>
      <p:sp>
        <p:nvSpPr>
          <p:cNvPr id="50" name="R2Btn"/>
          <p:cNvSpPr/>
          <p:nvPr/>
        </p:nvSpPr>
        <p:spPr>
          <a:xfrm>
            <a:off x="7863840" y="3044952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R2BtnTxt"/>
          <p:cNvSpPr/>
          <p:nvPr/>
        </p:nvSpPr>
        <p:spPr>
          <a:xfrm>
            <a:off x="7863840" y="306324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</a:rPr>
              <a:t>50 short</a:t>
            </a:r>
            <a:endParaRPr lang="en-US" sz="900" dirty="0"/>
          </a:p>
        </p:txBody>
      </p:sp>
      <p:sp>
        <p:nvSpPr>
          <p:cNvPr id="52" name="R2Div"/>
          <p:cNvSpPr/>
          <p:nvPr/>
        </p:nvSpPr>
        <p:spPr>
          <a:xfrm>
            <a:off x="2834640" y="3602736"/>
            <a:ext cx="60807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R3Bg"/>
          <p:cNvSpPr/>
          <p:nvPr/>
        </p:nvSpPr>
        <p:spPr>
          <a:xfrm>
            <a:off x="2834640" y="3621024"/>
            <a:ext cx="6080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R3Icon"/>
          <p:cNvSpPr/>
          <p:nvPr/>
        </p:nvSpPr>
        <p:spPr>
          <a:xfrm>
            <a:off x="2926080" y="3803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</a:rPr>
              <a:t>📚</a:t>
            </a:r>
            <a:endParaRPr lang="en-US" sz="1800" dirty="0"/>
          </a:p>
        </p:txBody>
      </p:sp>
      <p:sp>
        <p:nvSpPr>
          <p:cNvPr id="56" name="R3Name"/>
          <p:cNvSpPr/>
          <p:nvPr/>
        </p:nvSpPr>
        <p:spPr>
          <a:xfrm>
            <a:off x="3474720" y="3694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</a:rPr>
              <a:t>Book of Your Choice</a:t>
            </a:r>
            <a:endParaRPr lang="en-US" sz="1200" dirty="0"/>
          </a:p>
        </p:txBody>
      </p:sp>
      <p:sp>
        <p:nvSpPr>
          <p:cNvPr id="57" name="R3Desc"/>
          <p:cNvSpPr/>
          <p:nvPr/>
        </p:nvSpPr>
        <p:spPr>
          <a:xfrm>
            <a:off x="3474720" y="39684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Pick any book up to $30</a:t>
            </a:r>
            <a:endParaRPr lang="en-US" sz="900" dirty="0"/>
          </a:p>
        </p:txBody>
      </p:sp>
      <p:sp>
        <p:nvSpPr>
          <p:cNvPr id="58" name="R3Coins"/>
          <p:cNvSpPr/>
          <p:nvPr/>
        </p:nvSpPr>
        <p:spPr>
          <a:xfrm>
            <a:off x="6858000" y="3712463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</a:rPr>
              <a:t>🪙 400</a:t>
            </a:r>
            <a:endParaRPr lang="en-US" sz="1100" dirty="0"/>
          </a:p>
        </p:txBody>
      </p:sp>
      <p:sp>
        <p:nvSpPr>
          <p:cNvPr id="59" name="R3Btn"/>
          <p:cNvSpPr/>
          <p:nvPr/>
        </p:nvSpPr>
        <p:spPr>
          <a:xfrm>
            <a:off x="7863840" y="3803904"/>
            <a:ext cx="914400" cy="3200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R3BtnTxt"/>
          <p:cNvSpPr/>
          <p:nvPr/>
        </p:nvSpPr>
        <p:spPr>
          <a:xfrm>
            <a:off x="7863840" y="3822191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Redeem</a:t>
            </a:r>
            <a:endParaRPr lang="en-US" sz="1000" dirty="0"/>
          </a:p>
        </p:txBody>
      </p:sp>
      <p:sp>
        <p:nvSpPr>
          <p:cNvPr id="61" name="R3Div"/>
          <p:cNvSpPr/>
          <p:nvPr/>
        </p:nvSpPr>
        <p:spPr>
          <a:xfrm>
            <a:off x="2834640" y="4361688"/>
            <a:ext cx="60807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LeftPanel"/>
          <p:cNvSpPr/>
          <p:nvPr/>
        </p:nvSpPr>
        <p:spPr>
          <a:xfrm>
            <a:off x="64008" y="0"/>
            <a:ext cx="2560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82880" y="182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</a:rPr>
              <a:t>Employee Profile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182880" y="594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Personal profile with hobbies, level &amp; progress</a:t>
            </a:r>
            <a:endParaRPr lang="en-US" sz="1000" dirty="0"/>
          </a:p>
        </p:txBody>
      </p:sp>
      <p:sp>
        <p:nvSpPr>
          <p:cNvPr id="6" name="Divider"/>
          <p:cNvSpPr/>
          <p:nvPr/>
        </p:nvSpPr>
        <p:spPr>
          <a:xfrm>
            <a:off x="182880" y="1005840"/>
            <a:ext cx="21945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Desc1"/>
          <p:cNvSpPr/>
          <p:nvPr/>
        </p:nvSpPr>
        <p:spPr>
          <a:xfrm>
            <a:off x="1828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Hobbies drive matching algorithm</a:t>
            </a:r>
            <a:endParaRPr lang="en-US" sz="950" dirty="0"/>
          </a:p>
        </p:txBody>
      </p:sp>
      <p:sp>
        <p:nvSpPr>
          <p:cNvPr id="8" name="Desc2"/>
          <p:cNvSpPr/>
          <p:nvPr/>
        </p:nvSpPr>
        <p:spPr>
          <a:xfrm>
            <a:off x="18288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Level up by participating</a:t>
            </a:r>
            <a:endParaRPr lang="en-US" sz="950" dirty="0"/>
          </a:p>
        </p:txBody>
      </p:sp>
      <p:sp>
        <p:nvSpPr>
          <p:cNvPr id="9" name="Desc3"/>
          <p:cNvSpPr/>
          <p:nvPr/>
        </p:nvSpPr>
        <p:spPr>
          <a:xfrm>
            <a:off x="18288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Track social preferences</a:t>
            </a:r>
            <a:endParaRPr lang="en-US" sz="950" dirty="0"/>
          </a:p>
        </p:txBody>
      </p:sp>
      <p:sp>
        <p:nvSpPr>
          <p:cNvPr id="10" name="LeftEmoji"/>
          <p:cNvSpPr/>
          <p:nvPr/>
        </p:nvSpPr>
        <p:spPr>
          <a:xfrm>
            <a:off x="822960" y="2834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97316"/>
                </a:solidFill>
                <a:latin typeface="Calibri" pitchFamily="34" charset="0"/>
              </a:rPr>
              <a:t>👤</a:t>
            </a:r>
            <a:endParaRPr lang="en-US" sz="4200" dirty="0"/>
          </a:p>
        </p:txBody>
      </p:sp>
      <p:sp>
        <p:nvSpPr>
          <p:cNvPr id="11" name="ProfileCard"/>
          <p:cNvSpPr/>
          <p:nvPr/>
        </p:nvSpPr>
        <p:spPr>
          <a:xfrm>
            <a:off x="2834640" y="0"/>
            <a:ext cx="60807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HeaderBand"/>
          <p:cNvSpPr/>
          <p:nvPr/>
        </p:nvSpPr>
        <p:spPr>
          <a:xfrm>
            <a:off x="2834640" y="0"/>
            <a:ext cx="608076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ProfAv"/>
          <p:cNvSpPr/>
          <p:nvPr/>
        </p:nvSpPr>
        <p:spPr>
          <a:xfrm>
            <a:off x="5212080" y="502920"/>
            <a:ext cx="777240" cy="7772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ProfAvTxt"/>
          <p:cNvSpPr/>
          <p:nvPr/>
        </p:nvSpPr>
        <p:spPr>
          <a:xfrm>
            <a:off x="5212080" y="566928"/>
            <a:ext cx="777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AJ</a:t>
            </a:r>
            <a:endParaRPr lang="en-US" sz="1600" dirty="0"/>
          </a:p>
        </p:txBody>
      </p:sp>
      <p:sp>
        <p:nvSpPr>
          <p:cNvPr id="15" name="ProfName"/>
          <p:cNvSpPr/>
          <p:nvPr/>
        </p:nvSpPr>
        <p:spPr>
          <a:xfrm>
            <a:off x="2926080" y="13716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</a:rPr>
              <a:t>Alex Johnson</a:t>
            </a:r>
            <a:endParaRPr lang="en-US" sz="1800" dirty="0"/>
          </a:p>
        </p:txBody>
      </p:sp>
      <p:sp>
        <p:nvSpPr>
          <p:cNvPr id="16" name="ProfRole"/>
          <p:cNvSpPr/>
          <p:nvPr/>
        </p:nvSpPr>
        <p:spPr>
          <a:xfrm>
            <a:off x="2926080" y="17099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</a:rPr>
              <a:t>Senior Product Manager  ·  New York, NY</a:t>
            </a:r>
            <a:endParaRPr lang="en-US" sz="1000" dirty="0"/>
          </a:p>
        </p:txBody>
      </p:sp>
      <p:sp>
        <p:nvSpPr>
          <p:cNvPr id="17" name="LevelBadge"/>
          <p:cNvSpPr/>
          <p:nvPr/>
        </p:nvSpPr>
        <p:spPr>
          <a:xfrm>
            <a:off x="4069080" y="2075688"/>
            <a:ext cx="1005840" cy="256032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LevelTxt"/>
          <p:cNvSpPr/>
          <p:nvPr/>
        </p:nvSpPr>
        <p:spPr>
          <a:xfrm>
            <a:off x="4069080" y="2084831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</a:rPr>
              <a:t>⭐ BEGINNER</a:t>
            </a:r>
            <a:endParaRPr lang="en-US" sz="900" dirty="0"/>
          </a:p>
        </p:txBody>
      </p:sp>
      <p:sp>
        <p:nvSpPr>
          <p:cNvPr id="19" name="CoinsBadge"/>
          <p:cNvSpPr/>
          <p:nvPr/>
        </p:nvSpPr>
        <p:spPr>
          <a:xfrm>
            <a:off x="5212080" y="2075688"/>
            <a:ext cx="960120" cy="256032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0" name="CoinsTxt"/>
          <p:cNvSpPr/>
          <p:nvPr/>
        </p:nvSpPr>
        <p:spPr>
          <a:xfrm>
            <a:off x="5212080" y="2084831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</a:rPr>
              <a:t>🪙 450</a:t>
            </a:r>
            <a:endParaRPr lang="en-US" sz="900" dirty="0"/>
          </a:p>
        </p:txBody>
      </p:sp>
      <p:sp>
        <p:nvSpPr>
          <p:cNvPr id="21" name="Stat0Bg"/>
          <p:cNvSpPr/>
          <p:nvPr/>
        </p:nvSpPr>
        <p:spPr>
          <a:xfrm>
            <a:off x="3017520" y="2450592"/>
            <a:ext cx="1691640" cy="50292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2" name="Stat0Txt"/>
          <p:cNvSpPr/>
          <p:nvPr/>
        </p:nvSpPr>
        <p:spPr>
          <a:xfrm>
            <a:off x="3017520" y="2505456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</a:rPr>
              <a:t>8 Matches</a:t>
            </a:r>
            <a:endParaRPr lang="en-US" sz="1100" dirty="0"/>
          </a:p>
        </p:txBody>
      </p:sp>
      <p:sp>
        <p:nvSpPr>
          <p:cNvPr id="23" name="Stat1Bg"/>
          <p:cNvSpPr/>
          <p:nvPr/>
        </p:nvSpPr>
        <p:spPr>
          <a:xfrm>
            <a:off x="4937760" y="2450592"/>
            <a:ext cx="1691640" cy="50292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4" name="Stat1Txt"/>
          <p:cNvSpPr/>
          <p:nvPr/>
        </p:nvSpPr>
        <p:spPr>
          <a:xfrm>
            <a:off x="4937760" y="2505456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</a:rPr>
              <a:t>3 Activities</a:t>
            </a:r>
            <a:endParaRPr lang="en-US" sz="1100" dirty="0"/>
          </a:p>
        </p:txBody>
      </p:sp>
      <p:sp>
        <p:nvSpPr>
          <p:cNvPr id="25" name="Stat2Bg"/>
          <p:cNvSpPr/>
          <p:nvPr/>
        </p:nvSpPr>
        <p:spPr>
          <a:xfrm>
            <a:off x="6858000" y="2450592"/>
            <a:ext cx="1691640" cy="50292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6" name="Stat2Txt"/>
          <p:cNvSpPr/>
          <p:nvPr/>
        </p:nvSpPr>
        <p:spPr>
          <a:xfrm>
            <a:off x="6858000" y="2505456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</a:rPr>
              <a:t>Product Dept</a:t>
            </a:r>
            <a:endParaRPr lang="en-US" sz="1100" dirty="0"/>
          </a:p>
        </p:txBody>
      </p:sp>
      <p:sp>
        <p:nvSpPr>
          <p:cNvPr id="27" name="HobHeader"/>
          <p:cNvSpPr/>
          <p:nvPr/>
        </p:nvSpPr>
        <p:spPr>
          <a:xfrm>
            <a:off x="29718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Hobbies</a:t>
            </a:r>
            <a:endParaRPr lang="en-US" sz="1100" dirty="0"/>
          </a:p>
        </p:txBody>
      </p:sp>
      <p:sp>
        <p:nvSpPr>
          <p:cNvPr id="28" name="H0Bg"/>
          <p:cNvSpPr/>
          <p:nvPr/>
        </p:nvSpPr>
        <p:spPr>
          <a:xfrm>
            <a:off x="2971800" y="3401568"/>
            <a:ext cx="1371600" cy="256032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9" name="H0Txt"/>
          <p:cNvSpPr/>
          <p:nvPr/>
        </p:nvSpPr>
        <p:spPr>
          <a:xfrm>
            <a:off x="2971800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alibri" pitchFamily="34" charset="0"/>
              </a:rPr>
              <a:t>🧘 Yoga</a:t>
            </a:r>
            <a:endParaRPr lang="en-US" sz="950" dirty="0"/>
          </a:p>
        </p:txBody>
      </p:sp>
      <p:sp>
        <p:nvSpPr>
          <p:cNvPr id="30" name="H1Bg"/>
          <p:cNvSpPr/>
          <p:nvPr/>
        </p:nvSpPr>
        <p:spPr>
          <a:xfrm>
            <a:off x="4480560" y="3401568"/>
            <a:ext cx="1371600" cy="256032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1" name="H1Txt"/>
          <p:cNvSpPr/>
          <p:nvPr/>
        </p:nvSpPr>
        <p:spPr>
          <a:xfrm>
            <a:off x="4480560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alibri" pitchFamily="34" charset="0"/>
              </a:rPr>
              <a:t>✈️ Travel</a:t>
            </a:r>
            <a:endParaRPr lang="en-US" sz="950" dirty="0"/>
          </a:p>
        </p:txBody>
      </p:sp>
      <p:sp>
        <p:nvSpPr>
          <p:cNvPr id="32" name="H2Bg"/>
          <p:cNvSpPr/>
          <p:nvPr/>
        </p:nvSpPr>
        <p:spPr>
          <a:xfrm>
            <a:off x="2971800" y="3712463"/>
            <a:ext cx="1371600" cy="256032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3" name="H2Txt"/>
          <p:cNvSpPr/>
          <p:nvPr/>
        </p:nvSpPr>
        <p:spPr>
          <a:xfrm>
            <a:off x="2971800" y="373075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alibri" pitchFamily="34" charset="0"/>
              </a:rPr>
              <a:t>📷 Photography</a:t>
            </a:r>
            <a:endParaRPr lang="en-US" sz="950" dirty="0"/>
          </a:p>
        </p:txBody>
      </p:sp>
      <p:sp>
        <p:nvSpPr>
          <p:cNvPr id="34" name="H3Bg"/>
          <p:cNvSpPr/>
          <p:nvPr/>
        </p:nvSpPr>
        <p:spPr>
          <a:xfrm>
            <a:off x="4480560" y="3712463"/>
            <a:ext cx="1371600" cy="256032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5" name="H3Txt"/>
          <p:cNvSpPr/>
          <p:nvPr/>
        </p:nvSpPr>
        <p:spPr>
          <a:xfrm>
            <a:off x="4480560" y="373075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alibri" pitchFamily="34" charset="0"/>
              </a:rPr>
              <a:t>📚 Reading</a:t>
            </a:r>
            <a:endParaRPr lang="en-US" sz="950" dirty="0"/>
          </a:p>
        </p:txBody>
      </p:sp>
      <p:sp>
        <p:nvSpPr>
          <p:cNvPr id="36" name="SocHeader"/>
          <p:cNvSpPr/>
          <p:nvPr/>
        </p:nvSpPr>
        <p:spPr>
          <a:xfrm>
            <a:off x="297180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</a:rPr>
              <a:t>Social Preferences</a:t>
            </a:r>
            <a:endParaRPr lang="en-US" sz="1100" dirty="0"/>
          </a:p>
        </p:txBody>
      </p:sp>
      <p:sp>
        <p:nvSpPr>
          <p:cNvPr id="37" name="SocPref1"/>
          <p:cNvSpPr/>
          <p:nvPr/>
        </p:nvSpPr>
        <p:spPr>
          <a:xfrm>
            <a:off x="2971800" y="43159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</a:rPr>
              <a:t>⚡ Both  ·  📅 Weekly  ·  Workshops · Coffee chats · Team dinners</a:t>
            </a:r>
            <a:endParaRPr lang="en-US" sz="950" dirty="0"/>
          </a:p>
        </p:txBody>
      </p:sp>
      <p:sp>
        <p:nvSpPr>
          <p:cNvPr id="38" name="ProgLabel"/>
          <p:cNvSpPr/>
          <p:nvPr/>
        </p:nvSpPr>
        <p:spPr>
          <a:xfrm>
            <a:off x="2971800" y="4617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</a:rPr>
              <a:t>Progress to Gold ⭐ → 🥇</a:t>
            </a:r>
            <a:endParaRPr lang="en-US" sz="1000" dirty="0"/>
          </a:p>
        </p:txBody>
      </p:sp>
      <p:sp>
        <p:nvSpPr>
          <p:cNvPr id="39" name="ProgVal"/>
          <p:cNvSpPr/>
          <p:nvPr/>
        </p:nvSpPr>
        <p:spPr>
          <a:xfrm>
            <a:off x="7772400" y="46177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450/1000</a:t>
            </a:r>
            <a:endParaRPr lang="en-US" sz="900" dirty="0"/>
          </a:p>
        </p:txBody>
      </p:sp>
      <p:sp>
        <p:nvSpPr>
          <p:cNvPr id="40" name="ProgBg"/>
          <p:cNvSpPr/>
          <p:nvPr/>
        </p:nvSpPr>
        <p:spPr>
          <a:xfrm>
            <a:off x="2971800" y="4864608"/>
            <a:ext cx="5760720" cy="128016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ProgFill"/>
          <p:cNvSpPr/>
          <p:nvPr/>
        </p:nvSpPr>
        <p:spPr>
          <a:xfrm>
            <a:off x="2971800" y="4864608"/>
            <a:ext cx="2592324" cy="128016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– B2B SaaS Internal Social Networking</dc:title>
  <dc:subject>PptxGenJS Presentation</dc:subject>
  <dc:creator>Panda</dc:creator>
  <cp:lastModifiedBy>Panda</cp:lastModifiedBy>
  <cp:revision>1</cp:revision>
  <dcterms:created xsi:type="dcterms:W3CDTF">2026-04-16T08:49:03Z</dcterms:created>
  <dcterms:modified xsi:type="dcterms:W3CDTF">2026-04-16T08:49:03Z</dcterms:modified>
</cp:coreProperties>
</file>